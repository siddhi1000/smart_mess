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sldIdLst>
    <p:sldId id="323" r:id="rId2"/>
    <p:sldId id="341" r:id="rId3"/>
    <p:sldId id="342" r:id="rId4"/>
    <p:sldId id="349" r:id="rId5"/>
    <p:sldId id="350" r:id="rId6"/>
    <p:sldId id="344" r:id="rId7"/>
    <p:sldId id="400" r:id="rId8"/>
    <p:sldId id="324" r:id="rId9"/>
    <p:sldId id="416" r:id="rId10"/>
    <p:sldId id="439" r:id="rId11"/>
    <p:sldId id="422" r:id="rId12"/>
    <p:sldId id="417" r:id="rId13"/>
    <p:sldId id="440" r:id="rId14"/>
    <p:sldId id="415" r:id="rId15"/>
    <p:sldId id="413" r:id="rId16"/>
    <p:sldId id="337" r:id="rId1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B77C"/>
    <a:srgbClr val="00C060"/>
    <a:srgbClr val="00CC6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87" autoAdjust="0"/>
    <p:restoredTop sz="90719" autoAdjust="0"/>
  </p:normalViewPr>
  <p:slideViewPr>
    <p:cSldViewPr>
      <p:cViewPr varScale="1">
        <p:scale>
          <a:sx n="82" d="100"/>
          <a:sy n="82" d="100"/>
        </p:scale>
        <p:origin x="701" y="72"/>
      </p:cViewPr>
      <p:guideLst>
        <p:guide orient="horz" pos="2160"/>
        <p:guide pos="3839"/>
      </p:guideLst>
    </p:cSldViewPr>
  </p:slideViewPr>
  <p:outlineViewPr>
    <p:cViewPr>
      <p:scale>
        <a:sx n="33" d="100"/>
        <a:sy n="33" d="100"/>
      </p:scale>
      <p:origin x="0" y="130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328EF6-EFF9-44DE-A3DE-952C4DDD5FF2}" type="datetimeFigureOut">
              <a:rPr lang="en-IN" smtClean="0"/>
              <a:t>01-08-2025</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0A7174-0450-466D-84B3-66F729647D9B}" type="slidenum">
              <a:rPr lang="en-IN" smtClean="0"/>
              <a:t>‹#›</a:t>
            </a:fld>
            <a:endParaRPr lang="en-IN"/>
          </a:p>
        </p:txBody>
      </p:sp>
    </p:spTree>
    <p:extLst>
      <p:ext uri="{BB962C8B-B14F-4D97-AF65-F5344CB8AC3E}">
        <p14:creationId xmlns:p14="http://schemas.microsoft.com/office/powerpoint/2010/main" val="259915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xfrm>
            <a:off x="382588" y="685800"/>
            <a:ext cx="6092825" cy="3429000"/>
          </a:xfrm>
          <a:noFill/>
          <a:ln>
            <a:solidFill>
              <a:srgbClr val="000000"/>
            </a:solidFill>
            <a:miter lim="800000"/>
          </a:ln>
        </p:spPr>
      </p:sp>
      <p:sp>
        <p:nvSpPr>
          <p:cNvPr id="48131" name="Notes Placeholder 2"/>
          <p:cNvSpPr>
            <a:spLocks noGrp="1"/>
          </p:cNvSpPr>
          <p:nvPr>
            <p:ph type="body" idx="1"/>
          </p:nvPr>
        </p:nvSpPr>
        <p:spPr bwMode="auto">
          <a:noFill/>
        </p:spPr>
        <p:txBody>
          <a:bodyPr wrap="square" numCol="1" anchor="t" anchorCtr="0" compatLnSpc="1"/>
          <a:lstStyle/>
          <a:p>
            <a:endParaRPr lang="en-US" dirty="0"/>
          </a:p>
        </p:txBody>
      </p:sp>
      <p:sp>
        <p:nvSpPr>
          <p:cNvPr id="4" name="Slide Number Placeholder 3"/>
          <p:cNvSpPr>
            <a:spLocks noGrp="1"/>
          </p:cNvSpPr>
          <p:nvPr>
            <p:ph type="sldNum" sz="quarter" idx="5"/>
          </p:nvPr>
        </p:nvSpPr>
        <p:spPr/>
        <p:txBody>
          <a:bodyPr/>
          <a:lstStyle/>
          <a:p>
            <a:pPr>
              <a:defRPr/>
            </a:pPr>
            <a:fld id="{C078F984-91FA-4022-A536-49616831D8B0}" type="slidenum">
              <a:rPr lang="en-IN" smtClean="0"/>
              <a:t>1</a:t>
            </a:fld>
            <a:endParaRPr lang="en-IN" dirty="0"/>
          </a:p>
        </p:txBody>
      </p:sp>
    </p:spTree>
    <p:extLst>
      <p:ext uri="{BB962C8B-B14F-4D97-AF65-F5344CB8AC3E}">
        <p14:creationId xmlns:p14="http://schemas.microsoft.com/office/powerpoint/2010/main" val="2824307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0A7174-0450-466D-84B3-66F729647D9B}" type="slidenum">
              <a:rPr lang="en-IN" smtClean="0"/>
              <a:t>2</a:t>
            </a:fld>
            <a:endParaRPr lang="en-IN"/>
          </a:p>
        </p:txBody>
      </p:sp>
    </p:spTree>
    <p:extLst>
      <p:ext uri="{BB962C8B-B14F-4D97-AF65-F5344CB8AC3E}">
        <p14:creationId xmlns:p14="http://schemas.microsoft.com/office/powerpoint/2010/main" val="98915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3</a:t>
            </a:fld>
            <a:endParaRPr lang="en-IN"/>
          </a:p>
        </p:txBody>
      </p:sp>
    </p:spTree>
    <p:extLst>
      <p:ext uri="{BB962C8B-B14F-4D97-AF65-F5344CB8AC3E}">
        <p14:creationId xmlns:p14="http://schemas.microsoft.com/office/powerpoint/2010/main" val="3275981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5902587-A969-4AEA-9DF7-59ABE9A74410}" type="slidenum">
              <a:rPr lang="en-US" smtClean="0"/>
              <a:t>4</a:t>
            </a:fld>
            <a:endParaRPr lang="en-US"/>
          </a:p>
        </p:txBody>
      </p:sp>
    </p:spTree>
    <p:extLst>
      <p:ext uri="{BB962C8B-B14F-4D97-AF65-F5344CB8AC3E}">
        <p14:creationId xmlns:p14="http://schemas.microsoft.com/office/powerpoint/2010/main" val="3063091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5902587-A969-4AEA-9DF7-59ABE9A74410}" type="slidenum">
              <a:rPr lang="en-US" smtClean="0"/>
              <a:t>5</a:t>
            </a:fld>
            <a:endParaRPr lang="en-US"/>
          </a:p>
        </p:txBody>
      </p:sp>
    </p:spTree>
    <p:extLst>
      <p:ext uri="{BB962C8B-B14F-4D97-AF65-F5344CB8AC3E}">
        <p14:creationId xmlns:p14="http://schemas.microsoft.com/office/powerpoint/2010/main" val="3830919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6</a:t>
            </a:fld>
            <a:endParaRPr lang="en-IN"/>
          </a:p>
        </p:txBody>
      </p:sp>
    </p:spTree>
    <p:extLst>
      <p:ext uri="{BB962C8B-B14F-4D97-AF65-F5344CB8AC3E}">
        <p14:creationId xmlns:p14="http://schemas.microsoft.com/office/powerpoint/2010/main" val="365005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7</a:t>
            </a:fld>
            <a:endParaRPr lang="en-IN"/>
          </a:p>
        </p:txBody>
      </p:sp>
    </p:spTree>
    <p:extLst>
      <p:ext uri="{BB962C8B-B14F-4D97-AF65-F5344CB8AC3E}">
        <p14:creationId xmlns:p14="http://schemas.microsoft.com/office/powerpoint/2010/main" val="2404893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8</a:t>
            </a:fld>
            <a:endParaRPr lang="en-IN"/>
          </a:p>
        </p:txBody>
      </p:sp>
    </p:spTree>
    <p:extLst>
      <p:ext uri="{BB962C8B-B14F-4D97-AF65-F5344CB8AC3E}">
        <p14:creationId xmlns:p14="http://schemas.microsoft.com/office/powerpoint/2010/main" val="4026876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9</a:t>
            </a:fld>
            <a:endParaRPr lang="en-IN"/>
          </a:p>
        </p:txBody>
      </p:sp>
    </p:spTree>
    <p:extLst>
      <p:ext uri="{BB962C8B-B14F-4D97-AF65-F5344CB8AC3E}">
        <p14:creationId xmlns:p14="http://schemas.microsoft.com/office/powerpoint/2010/main" val="3998195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10</a:t>
            </a:fld>
            <a:endParaRPr lang="en-IN"/>
          </a:p>
        </p:txBody>
      </p:sp>
    </p:spTree>
    <p:extLst>
      <p:ext uri="{BB962C8B-B14F-4D97-AF65-F5344CB8AC3E}">
        <p14:creationId xmlns:p14="http://schemas.microsoft.com/office/powerpoint/2010/main" val="2497219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14</a:t>
            </a:fld>
            <a:endParaRPr lang="en-IN"/>
          </a:p>
        </p:txBody>
      </p:sp>
    </p:spTree>
    <p:extLst>
      <p:ext uri="{BB962C8B-B14F-4D97-AF65-F5344CB8AC3E}">
        <p14:creationId xmlns:p14="http://schemas.microsoft.com/office/powerpoint/2010/main" val="3037354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0A7174-0450-466D-84B3-66F729647D9B}" type="slidenum">
              <a:rPr lang="en-IN" smtClean="0"/>
              <a:t>15</a:t>
            </a:fld>
            <a:endParaRPr lang="en-IN"/>
          </a:p>
        </p:txBody>
      </p:sp>
    </p:spTree>
    <p:extLst>
      <p:ext uri="{BB962C8B-B14F-4D97-AF65-F5344CB8AC3E}">
        <p14:creationId xmlns:p14="http://schemas.microsoft.com/office/powerpoint/2010/main" val="220411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09583" y="359898"/>
            <a:ext cx="9872948"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09583" y="1850064"/>
            <a:ext cx="9872948"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42B96DEB-63FA-4F92-A620-A7801C4D0F01}" type="datetime1">
              <a:rPr lang="en-IN" smtClean="0"/>
              <a:t>01-08-2025</a:t>
            </a:fld>
            <a:endParaRPr lang="en-IN"/>
          </a:p>
        </p:txBody>
      </p:sp>
      <p:sp>
        <p:nvSpPr>
          <p:cNvPr id="20" name="Footer Placeholder 19"/>
          <p:cNvSpPr>
            <a:spLocks noGrp="1"/>
          </p:cNvSpPr>
          <p:nvPr>
            <p:ph type="ftr" sz="quarter" idx="11"/>
          </p:nvPr>
        </p:nvSpPr>
        <p:spPr/>
        <p:txBody>
          <a:bodyPr/>
          <a:lstStyle/>
          <a:p>
            <a:r>
              <a:rPr lang="en-IN"/>
              <a:t>ZCOER,Pune</a:t>
            </a:r>
          </a:p>
        </p:txBody>
      </p:sp>
      <p:sp>
        <p:nvSpPr>
          <p:cNvPr id="10" name="Slide Number Placeholder 9"/>
          <p:cNvSpPr>
            <a:spLocks noGrp="1"/>
          </p:cNvSpPr>
          <p:nvPr>
            <p:ph type="sldNum" sz="quarter" idx="12"/>
          </p:nvPr>
        </p:nvSpPr>
        <p:spPr/>
        <p:txBody>
          <a:bodyPr/>
          <a:lstStyle/>
          <a:p>
            <a:fld id="{56E39993-3455-456D-B76B-54420194FCFA}" type="slidenum">
              <a:rPr lang="en-IN" smtClean="0"/>
              <a:t>‹#›</a:t>
            </a:fld>
            <a:endParaRPr lang="en-IN"/>
          </a:p>
        </p:txBody>
      </p:sp>
      <p:sp>
        <p:nvSpPr>
          <p:cNvPr id="8" name="Oval 7"/>
          <p:cNvSpPr/>
          <p:nvPr/>
        </p:nvSpPr>
        <p:spPr>
          <a:xfrm>
            <a:off x="1228257" y="1413802"/>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499" y="1345016"/>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90B75A-FD8E-4B45-86E1-911A05BA1A76}" type="datetime1">
              <a:rPr lang="en-IN" smtClean="0"/>
              <a:t>01-08-2025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061" y="-54"/>
            <a:ext cx="914161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6960" y="2600325"/>
            <a:ext cx="8532178"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6960" y="1066800"/>
            <a:ext cx="8532178"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471DAC5-9573-4DCB-9200-063959D08D04}" type="datetime1">
              <a:rPr lang="en-IN" smtClean="0"/>
              <a:t>01-08-2025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
        <p:nvSpPr>
          <p:cNvPr id="10" name="Rectangle 9"/>
          <p:cNvSpPr/>
          <p:nvPr/>
        </p:nvSpPr>
        <p:spPr bwMode="invGray">
          <a:xfrm>
            <a:off x="3047206" y="0"/>
            <a:ext cx="101574"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5674" y="2814656"/>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09916" y="2745870"/>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lstStyle/>
          <a:p>
            <a:r>
              <a:rPr kumimoji="0" lang="en-US"/>
              <a:t>Click to edit Master title style</a:t>
            </a:r>
          </a:p>
        </p:txBody>
      </p:sp>
      <p:sp>
        <p:nvSpPr>
          <p:cNvPr id="3" name="Content Placeholder 2"/>
          <p:cNvSpPr>
            <a:spLocks noGrp="1"/>
          </p:cNvSpPr>
          <p:nvPr>
            <p:ph sz="half" idx="1"/>
          </p:nvPr>
        </p:nvSpPr>
        <p:spPr>
          <a:xfrm>
            <a:off x="1913646"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2952"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37F1B53-BEF8-4DC6-B766-56BBA5D53075}" type="datetime1">
              <a:rPr lang="en-IN" smtClean="0"/>
              <a:t>01-08-2025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60336"/>
            <a:ext cx="10969943"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44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630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44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630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BC356A1-72C8-44D6-BC28-BB04BF9EE04D}" type="datetime1">
              <a:rPr lang="en-IN" smtClean="0"/>
              <a:t>01-08-2025</a:t>
            </a:fld>
            <a:endParaRPr lang="en-IN"/>
          </a:p>
        </p:txBody>
      </p:sp>
      <p:sp>
        <p:nvSpPr>
          <p:cNvPr id="8" name="Footer Placeholder 7"/>
          <p:cNvSpPr>
            <a:spLocks noGrp="1"/>
          </p:cNvSpPr>
          <p:nvPr>
            <p:ph type="ftr" sz="quarter" idx="11"/>
          </p:nvPr>
        </p:nvSpPr>
        <p:spPr/>
        <p:txBody>
          <a:bodyPr/>
          <a:lstStyle/>
          <a:p>
            <a:r>
              <a:rPr lang="en-IN"/>
              <a:t>ZCOER,Pune</a:t>
            </a:r>
          </a:p>
        </p:txBody>
      </p:sp>
      <p:sp>
        <p:nvSpPr>
          <p:cNvPr id="9" name="Slide Number Placeholder 8"/>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A7A7CAAF-1F4E-496D-883C-C2A32DEBD567}" type="datetime1">
              <a:rPr lang="en-IN" smtClean="0"/>
              <a:t>01-08-2025</a:t>
            </a:fld>
            <a:endParaRPr lang="en-IN"/>
          </a:p>
        </p:txBody>
      </p:sp>
      <p:sp>
        <p:nvSpPr>
          <p:cNvPr id="4" name="Footer Placeholder 3"/>
          <p:cNvSpPr>
            <a:spLocks noGrp="1"/>
          </p:cNvSpPr>
          <p:nvPr>
            <p:ph type="ftr" sz="quarter" idx="11"/>
          </p:nvPr>
        </p:nvSpPr>
        <p:spPr/>
        <p:txBody>
          <a:bodyPr/>
          <a:lstStyle/>
          <a:p>
            <a:r>
              <a:rPr lang="en-IN"/>
              <a:t>ZCOER,Pune</a:t>
            </a:r>
          </a:p>
        </p:txBody>
      </p:sp>
      <p:sp>
        <p:nvSpPr>
          <p:cNvPr id="5" name="Slide Number Placeholder 4"/>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2960" y="0"/>
            <a:ext cx="1083586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BA55E2F-6023-48C1-BFAC-5D1AC68CC65E}" type="datetime1">
              <a:rPr lang="en-IN" smtClean="0"/>
              <a:t>01-08-2025</a:t>
            </a:fld>
            <a:endParaRPr lang="en-IN"/>
          </a:p>
        </p:txBody>
      </p:sp>
      <p:sp>
        <p:nvSpPr>
          <p:cNvPr id="3" name="Footer Placeholder 2"/>
          <p:cNvSpPr>
            <a:spLocks noGrp="1"/>
          </p:cNvSpPr>
          <p:nvPr>
            <p:ph type="ftr" sz="quarter" idx="11"/>
          </p:nvPr>
        </p:nvSpPr>
        <p:spPr/>
        <p:txBody>
          <a:bodyPr/>
          <a:lstStyle/>
          <a:p>
            <a:r>
              <a:rPr lang="en-IN"/>
              <a:t>ZCOER,Pune</a:t>
            </a:r>
          </a:p>
        </p:txBody>
      </p:sp>
      <p:sp>
        <p:nvSpPr>
          <p:cNvPr id="4" name="Slide Number Placeholder 3"/>
          <p:cNvSpPr>
            <a:spLocks noGrp="1"/>
          </p:cNvSpPr>
          <p:nvPr>
            <p:ph type="sldNum" sz="quarter" idx="12"/>
          </p:nvPr>
        </p:nvSpPr>
        <p:spPr/>
        <p:txBody>
          <a:bodyPr/>
          <a:lstStyle/>
          <a:p>
            <a:fld id="{56E39993-3455-456D-B76B-54420194FCFA}" type="slidenum">
              <a:rPr lang="en-IN" smtClean="0"/>
              <a:t>‹#›</a:t>
            </a:fld>
            <a:endParaRPr lang="en-IN"/>
          </a:p>
        </p:txBody>
      </p:sp>
      <p:sp>
        <p:nvSpPr>
          <p:cNvPr id="6" name="Rectangle 5"/>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16778"/>
            <a:ext cx="5078677"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441" y="1406964"/>
            <a:ext cx="5078677"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441" y="2133601"/>
            <a:ext cx="10868369"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A68C298-04B9-4CB9-B031-0E0E0F048A2B}" type="datetime1">
              <a:rPr lang="en-IN" smtClean="0"/>
              <a:t>01-08-2025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7150" y="1066800"/>
            <a:ext cx="3656648"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463450A7-7012-41CD-92D9-55C5F70EDE03}" type="datetime1">
              <a:rPr lang="en-IN" smtClean="0"/>
              <a:t>01-08-2025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
        <p:nvSpPr>
          <p:cNvPr id="8" name="Rectangle 7"/>
          <p:cNvSpPr/>
          <p:nvPr/>
        </p:nvSpPr>
        <p:spPr>
          <a:xfrm>
            <a:off x="1015735" y="1066800"/>
            <a:ext cx="6094413"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309" y="1143004"/>
            <a:ext cx="5891265"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829" y="954341"/>
            <a:ext cx="91416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69818" y="936786"/>
            <a:ext cx="865407"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309" y="4800600"/>
            <a:ext cx="5891265"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44F53DD-83D5-4E98-878B-3496630E340A}" type="datetime1">
              <a:rPr lang="en-IN" smtClean="0"/>
              <a:t>01-08-2025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274640"/>
            <a:ext cx="2437765"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3603" y="274641"/>
            <a:ext cx="7414869"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54CF91B-2ADD-444C-B2BC-06BB96A34E5C}" type="datetime1">
              <a:rPr lang="en-IN" smtClean="0"/>
              <a:t>01-08-2025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619" y="-815922"/>
            <a:ext cx="2184614"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30" y="21103"/>
            <a:ext cx="2268997"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779" y="1055077"/>
            <a:ext cx="1500565"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146" y="-54"/>
            <a:ext cx="1083867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3645" y="274638"/>
            <a:ext cx="9994837"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3645" y="1447800"/>
            <a:ext cx="9994837"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3957" y="6305550"/>
            <a:ext cx="2844059"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2184ECCD-BCA5-4437-9AA5-A7A66666E514}" type="datetime1">
              <a:rPr lang="en-IN" smtClean="0"/>
              <a:t>01-08-2025</a:t>
            </a:fld>
            <a:endParaRPr lang="en-IN"/>
          </a:p>
        </p:txBody>
      </p:sp>
      <p:sp>
        <p:nvSpPr>
          <p:cNvPr id="10" name="Footer Placeholder 9"/>
          <p:cNvSpPr>
            <a:spLocks noGrp="1"/>
          </p:cNvSpPr>
          <p:nvPr>
            <p:ph type="ftr" sz="quarter" idx="3"/>
          </p:nvPr>
        </p:nvSpPr>
        <p:spPr>
          <a:xfrm>
            <a:off x="7618015" y="6305550"/>
            <a:ext cx="3859795"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r>
              <a:rPr lang="en-IN"/>
              <a:t>ZCOER,Pune</a:t>
            </a:r>
          </a:p>
        </p:txBody>
      </p:sp>
      <p:sp>
        <p:nvSpPr>
          <p:cNvPr id="22" name="Slide Number Placeholder 21"/>
          <p:cNvSpPr>
            <a:spLocks noGrp="1"/>
          </p:cNvSpPr>
          <p:nvPr>
            <p:ph type="sldNum" sz="quarter" idx="4"/>
          </p:nvPr>
        </p:nvSpPr>
        <p:spPr>
          <a:xfrm>
            <a:off x="11481873" y="6305550"/>
            <a:ext cx="609441"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56E39993-3455-456D-B76B-54420194FCFA}" type="slidenum">
              <a:rPr lang="en-IN" smtClean="0"/>
              <a:t>‹#›</a:t>
            </a:fld>
            <a:endParaRPr lang="en-IN"/>
          </a:p>
        </p:txBody>
      </p:sp>
      <p:sp>
        <p:nvSpPr>
          <p:cNvPr id="15" name="Rectangle 14"/>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1341884" y="2071678"/>
            <a:ext cx="10846941" cy="4509120"/>
          </a:xfrm>
        </p:spPr>
        <p:txBody>
          <a:bodyPr>
            <a:normAutofit lnSpcReduction="10000"/>
          </a:bodyPr>
          <a:lstStyle/>
          <a:p>
            <a:pPr algn="ctr">
              <a:lnSpc>
                <a:spcPct val="90000"/>
              </a:lnSpc>
            </a:pPr>
            <a:r>
              <a:rPr lang="en-US" sz="2800" b="1" dirty="0">
                <a:solidFill>
                  <a:schemeClr val="tx1"/>
                </a:solidFill>
                <a:latin typeface="Times New Roman" panose="02020603050405020304" pitchFamily="18" charset="0"/>
                <a:cs typeface="Times New Roman" panose="02020603050405020304" pitchFamily="18" charset="0"/>
              </a:rPr>
              <a:t>      Project Phase-I Idea Presentation on</a:t>
            </a:r>
          </a:p>
          <a:p>
            <a:pPr marR="0" algn="ctr" eaLnBrk="1" hangingPunct="1">
              <a:lnSpc>
                <a:spcPct val="90000"/>
              </a:lnSpc>
            </a:pPr>
            <a:r>
              <a:rPr lang="en-US" sz="2800" b="1" dirty="0">
                <a:solidFill>
                  <a:schemeClr val="tx1"/>
                </a:solidFill>
                <a:latin typeface="Times New Roman" panose="02020603050405020304" pitchFamily="18" charset="0"/>
                <a:cs typeface="Times New Roman" panose="02020603050405020304" pitchFamily="18" charset="0"/>
              </a:rPr>
              <a:t>        </a:t>
            </a:r>
          </a:p>
          <a:p>
            <a:pPr algn="ctr">
              <a:lnSpc>
                <a:spcPct val="90000"/>
              </a:lnSpc>
            </a:pP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solidFill>
                  <a:schemeClr val="accent3">
                    <a:lumMod val="75000"/>
                  </a:schemeClr>
                </a:solidFill>
                <a:latin typeface="Times New Roman" panose="02020603050405020304" pitchFamily="18" charset="0"/>
                <a:cs typeface="Times New Roman" panose="02020603050405020304" pitchFamily="18" charset="0"/>
              </a:rPr>
              <a:t>“</a:t>
            </a:r>
            <a:r>
              <a:rPr lang="en-IN" sz="2000" b="1" dirty="0">
                <a:solidFill>
                  <a:schemeClr val="accent3">
                    <a:lumMod val="75000"/>
                  </a:schemeClr>
                </a:solidFill>
                <a:latin typeface="Times New Roman" panose="02020603050405020304" pitchFamily="18" charset="0"/>
                <a:cs typeface="Times New Roman" panose="02020603050405020304" pitchFamily="18" charset="0"/>
              </a:rPr>
              <a:t>Mess Management System</a:t>
            </a:r>
            <a:r>
              <a:rPr lang="en-US" sz="2800" b="1" dirty="0">
                <a:solidFill>
                  <a:schemeClr val="accent3">
                    <a:lumMod val="75000"/>
                  </a:schemeClr>
                </a:solidFill>
                <a:latin typeface="Times New Roman" panose="02020603050405020304" pitchFamily="18" charset="0"/>
                <a:cs typeface="Times New Roman" panose="02020603050405020304" pitchFamily="18" charset="0"/>
              </a:rPr>
              <a:t>”</a:t>
            </a:r>
          </a:p>
          <a:p>
            <a:pPr>
              <a:lnSpc>
                <a:spcPct val="90000"/>
              </a:lnSpc>
            </a:pPr>
            <a:r>
              <a:rPr lang="en-US" sz="2200" b="1" dirty="0">
                <a:latin typeface="Times New Roman" panose="02020603050405020304" pitchFamily="18" charset="0"/>
                <a:cs typeface="Times New Roman" panose="02020603050405020304" pitchFamily="18" charset="0"/>
              </a:rPr>
              <a:t>                                                                 </a:t>
            </a:r>
          </a:p>
          <a:p>
            <a:pPr>
              <a:lnSpc>
                <a:spcPct val="90000"/>
              </a:lnSpc>
            </a:pPr>
            <a:r>
              <a:rPr lang="en-US" sz="2200" b="1" dirty="0">
                <a:latin typeface="Times New Roman" panose="02020603050405020304" pitchFamily="18" charset="0"/>
                <a:cs typeface="Times New Roman" panose="02020603050405020304" pitchFamily="18" charset="0"/>
              </a:rPr>
              <a:t>                                                                  </a:t>
            </a:r>
            <a:r>
              <a:rPr lang="en-US" sz="2200" b="1" u="sng" dirty="0">
                <a:latin typeface="Times New Roman" panose="02020603050405020304" pitchFamily="18" charset="0"/>
                <a:cs typeface="Times New Roman" panose="02020603050405020304" pitchFamily="18" charset="0"/>
              </a:rPr>
              <a:t>Presented By </a:t>
            </a:r>
          </a:p>
          <a:p>
            <a:pPr>
              <a:lnSpc>
                <a:spcPct val="90000"/>
              </a:lnSpc>
            </a:pPr>
            <a:r>
              <a:rPr lang="en-US" sz="2200" b="1" dirty="0">
                <a:latin typeface="Times New Roman" panose="02020603050405020304" pitchFamily="18" charset="0"/>
                <a:cs typeface="Times New Roman" panose="02020603050405020304" pitchFamily="18" charset="0"/>
              </a:rPr>
              <a:t>                                                            1.Mahesh Madane</a:t>
            </a:r>
          </a:p>
          <a:p>
            <a:pPr>
              <a:lnSpc>
                <a:spcPct val="90000"/>
              </a:lnSpc>
            </a:pPr>
            <a:r>
              <a:rPr lang="en-US" sz="2200" b="1" dirty="0">
                <a:latin typeface="Times New Roman" panose="02020603050405020304" pitchFamily="18" charset="0"/>
                <a:cs typeface="Times New Roman" panose="02020603050405020304" pitchFamily="18" charset="0"/>
              </a:rPr>
              <a:t>                                                            2.Siddhi Kulkarni</a:t>
            </a:r>
          </a:p>
          <a:p>
            <a:pPr>
              <a:lnSpc>
                <a:spcPct val="90000"/>
              </a:lnSpc>
            </a:pPr>
            <a:r>
              <a:rPr lang="en-US" sz="2200" b="1" dirty="0">
                <a:latin typeface="Times New Roman" panose="02020603050405020304" pitchFamily="18" charset="0"/>
                <a:cs typeface="Times New Roman" panose="02020603050405020304" pitchFamily="18" charset="0"/>
              </a:rPr>
              <a:t>                                                            3.Dinesh Garule</a:t>
            </a:r>
          </a:p>
          <a:p>
            <a:pPr>
              <a:lnSpc>
                <a:spcPct val="90000"/>
              </a:lnSpc>
            </a:pPr>
            <a:r>
              <a:rPr lang="en-US" sz="2200" b="1" dirty="0">
                <a:latin typeface="Times New Roman" panose="02020603050405020304" pitchFamily="18" charset="0"/>
                <a:cs typeface="Times New Roman" panose="02020603050405020304" pitchFamily="18" charset="0"/>
              </a:rPr>
              <a:t>                                                            4.Amruta Kore</a:t>
            </a:r>
          </a:p>
          <a:p>
            <a:pPr algn="ctr">
              <a:lnSpc>
                <a:spcPct val="90000"/>
              </a:lnSpc>
            </a:pPr>
            <a:endParaRPr lang="en-US" sz="2200" b="1" dirty="0">
              <a:latin typeface="Times New Roman" panose="02020603050405020304" pitchFamily="18" charset="0"/>
              <a:cs typeface="Times New Roman" panose="02020603050405020304" pitchFamily="18" charset="0"/>
            </a:endParaRPr>
          </a:p>
          <a:p>
            <a:pPr>
              <a:lnSpc>
                <a:spcPct val="90000"/>
              </a:lnSpc>
            </a:pPr>
            <a:r>
              <a:rPr lang="en-US" sz="2200" b="1" dirty="0">
                <a:latin typeface="Times New Roman" panose="02020603050405020304" pitchFamily="18" charset="0"/>
                <a:cs typeface="Times New Roman" panose="02020603050405020304" pitchFamily="18" charset="0"/>
              </a:rPr>
              <a:t>                                                                        </a:t>
            </a:r>
            <a:r>
              <a:rPr lang="en-US" sz="2200" b="1" u="sng" dirty="0">
                <a:latin typeface="Times New Roman" panose="02020603050405020304" pitchFamily="18" charset="0"/>
                <a:cs typeface="Times New Roman" panose="02020603050405020304" pitchFamily="18" charset="0"/>
              </a:rPr>
              <a:t>Guide</a:t>
            </a:r>
          </a:p>
          <a:p>
            <a:pPr>
              <a:lnSpc>
                <a:spcPct val="90000"/>
              </a:lnSpc>
            </a:pPr>
            <a:r>
              <a:rPr lang="en-US" sz="2200" b="1" dirty="0">
                <a:latin typeface="Times New Roman" panose="02020603050405020304" pitchFamily="18" charset="0"/>
                <a:cs typeface="Times New Roman" panose="02020603050405020304" pitchFamily="18" charset="0"/>
              </a:rPr>
              <a:t>                                                            Prof .</a:t>
            </a:r>
            <a:r>
              <a:rPr lang="en-IN" sz="1600" dirty="0"/>
              <a:t> </a:t>
            </a:r>
            <a:r>
              <a:rPr lang="en-IN" sz="2200" b="1" dirty="0">
                <a:latin typeface="Times New Roman" panose="02020603050405020304" pitchFamily="18" charset="0"/>
                <a:cs typeface="Times New Roman" panose="02020603050405020304" pitchFamily="18" charset="0"/>
              </a:rPr>
              <a:t>Srushti Raut</a:t>
            </a:r>
            <a:endParaRPr lang="en-US" sz="2200" b="1" dirty="0">
              <a:latin typeface="Times New Roman" panose="02020603050405020304" pitchFamily="18" charset="0"/>
              <a:cs typeface="Times New Roman" panose="02020603050405020304" pitchFamily="18" charset="0"/>
            </a:endParaRPr>
          </a:p>
          <a:p>
            <a:pPr algn="ctr">
              <a:lnSpc>
                <a:spcPct val="90000"/>
              </a:lnSpc>
            </a:pPr>
            <a:endParaRPr lang="en-US" sz="2200" b="1" dirty="0">
              <a:latin typeface="Times New Roman" panose="02020603050405020304" pitchFamily="18" charset="0"/>
              <a:cs typeface="Times New Roman" panose="02020603050405020304" pitchFamily="18" charset="0"/>
            </a:endParaRPr>
          </a:p>
          <a:p>
            <a:pPr marR="0" eaLnBrk="1" hangingPunct="1">
              <a:lnSpc>
                <a:spcPct val="90000"/>
              </a:lnSpc>
            </a:pPr>
            <a:endParaRPr lang="en-US" sz="1900" b="1" dirty="0">
              <a:solidFill>
                <a:schemeClr val="tx1"/>
              </a:solidFill>
              <a:latin typeface="Times New Roman" panose="02020603050405020304" pitchFamily="18" charset="0"/>
              <a:cs typeface="Times New Roman" panose="02020603050405020304" pitchFamily="18" charset="0"/>
            </a:endParaRPr>
          </a:p>
          <a:p>
            <a:pPr marR="0" algn="ctr" eaLnBrk="1" hangingPunct="1">
              <a:lnSpc>
                <a:spcPct val="90000"/>
              </a:lnSpc>
            </a:pPr>
            <a:endParaRPr lang="en-US" sz="2000" b="1" dirty="0">
              <a:solidFill>
                <a:schemeClr val="tx1"/>
              </a:solidFill>
              <a:latin typeface="Times New Roman" panose="02020603050405020304" pitchFamily="18" charset="0"/>
              <a:cs typeface="Times New Roman" panose="02020603050405020304" pitchFamily="18" charset="0"/>
            </a:endParaRPr>
          </a:p>
          <a:p>
            <a:pPr marR="0" algn="ctr" eaLnBrk="1" hangingPunct="1">
              <a:lnSpc>
                <a:spcPct val="90000"/>
              </a:lnSpc>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629916" cy="1613818"/>
          </a:xfrm>
          <a:prstGeom prst="rect">
            <a:avLst/>
          </a:prstGeom>
        </p:spPr>
      </p:pic>
      <p:sp>
        <p:nvSpPr>
          <p:cNvPr id="5" name="Title 4"/>
          <p:cNvSpPr>
            <a:spLocks noGrp="1"/>
          </p:cNvSpPr>
          <p:nvPr>
            <p:ph type="ctrTitle"/>
          </p:nvPr>
        </p:nvSpPr>
        <p:spPr>
          <a:xfrm>
            <a:off x="1845940" y="273220"/>
            <a:ext cx="10153127" cy="1067378"/>
          </a:xfrm>
        </p:spPr>
        <p:txBody>
          <a:bodyPr>
            <a:noAutofit/>
          </a:bodyPr>
          <a:lstStyle/>
          <a:p>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MAEER’s</a:t>
            </a:r>
            <a:b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br>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MIT COLLEGE OF RAILWAY ENGINEERING AND RESEARCH</a:t>
            </a:r>
            <a:b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br>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BARSHI-413401</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0" y="1"/>
            <a:ext cx="12188825" cy="1500188"/>
          </a:xfrm>
        </p:spPr>
        <p:txBody>
          <a:bodyPr>
            <a:normAutofit/>
          </a:bodyPr>
          <a:lstStyle/>
          <a:p>
            <a:pPr algn="ctr"/>
            <a:r>
              <a:rPr lang="en-US" sz="4000" dirty="0">
                <a:latin typeface="Times New Roman" panose="02020603050405020304" pitchFamily="18" charset="0"/>
                <a:cs typeface="Times New Roman" panose="02020603050405020304" pitchFamily="18" charset="0"/>
              </a:rPr>
              <a:t>Contents</a:t>
            </a:r>
          </a:p>
        </p:txBody>
      </p:sp>
      <p:sp>
        <p:nvSpPr>
          <p:cNvPr id="9219" name="Content Placeholder 2"/>
          <p:cNvSpPr>
            <a:spLocks noGrp="1"/>
          </p:cNvSpPr>
          <p:nvPr>
            <p:ph idx="1"/>
          </p:nvPr>
        </p:nvSpPr>
        <p:spPr>
          <a:xfrm>
            <a:off x="1379504" y="1142984"/>
            <a:ext cx="10284254" cy="5072077"/>
          </a:xfrm>
        </p:spPr>
        <p:txBody>
          <a:bodyPr>
            <a:normAutofit/>
          </a:bodyPr>
          <a:lstStyle/>
          <a:p>
            <a:pPr algn="just" eaLnBrk="1" hangingPunct="1">
              <a:buNone/>
            </a:pPr>
            <a:endParaRPr lang="en-US" sz="2000" dirty="0">
              <a:latin typeface="Times New Roman" panose="02020603050405020304" pitchFamily="18" charset="0"/>
              <a:cs typeface="Times New Roman" panose="02020603050405020304" pitchFamily="18" charset="0"/>
            </a:endParaRPr>
          </a:p>
          <a:p>
            <a:pPr algn="just" eaLnBrk="1" hangingPunct="1"/>
            <a:r>
              <a:rPr lang="en-US" sz="2000" dirty="0">
                <a:latin typeface="Times New Roman" panose="02020603050405020304" pitchFamily="18" charset="0"/>
                <a:cs typeface="Times New Roman" panose="02020603050405020304" pitchFamily="18" charset="0"/>
              </a:rPr>
              <a:t>Introduction</a:t>
            </a:r>
          </a:p>
          <a:p>
            <a:pPr algn="just" eaLnBrk="1" hangingPunct="1"/>
            <a:r>
              <a:rPr lang="en-US" sz="2000" dirty="0">
                <a:latin typeface="Times New Roman" panose="02020603050405020304" pitchFamily="18" charset="0"/>
                <a:cs typeface="Times New Roman" panose="02020603050405020304" pitchFamily="18" charset="0"/>
              </a:rPr>
              <a:t>Literature Survey</a:t>
            </a:r>
          </a:p>
          <a:p>
            <a:pPr algn="just" eaLnBrk="1" hangingPunct="1"/>
            <a:r>
              <a:rPr lang="en-US" sz="2000" dirty="0">
                <a:latin typeface="Times New Roman" panose="02020603050405020304" pitchFamily="18" charset="0"/>
                <a:cs typeface="Times New Roman" panose="02020603050405020304" pitchFamily="18" charset="0"/>
              </a:rPr>
              <a:t>Motivation and Objectives</a:t>
            </a:r>
          </a:p>
          <a:p>
            <a:pPr algn="just" eaLnBrk="1" hangingPunct="1"/>
            <a:r>
              <a:rPr lang="en-US" sz="2000" dirty="0">
                <a:latin typeface="Times New Roman" panose="02020603050405020304" pitchFamily="18" charset="0"/>
                <a:cs typeface="Times New Roman" panose="02020603050405020304" pitchFamily="18" charset="0"/>
              </a:rPr>
              <a:t>Problem Statement</a:t>
            </a:r>
          </a:p>
          <a:p>
            <a:pPr algn="just" eaLnBrk="1" hangingPunct="1"/>
            <a:r>
              <a:rPr lang="en-US" sz="2000" dirty="0">
                <a:latin typeface="Times New Roman" panose="02020603050405020304" pitchFamily="18" charset="0"/>
                <a:cs typeface="Times New Roman" panose="02020603050405020304" pitchFamily="18" charset="0"/>
              </a:rPr>
              <a:t>Requirements : Hardware and Software</a:t>
            </a:r>
          </a:p>
          <a:p>
            <a:pPr algn="just" eaLnBrk="1" hangingPunct="1"/>
            <a:r>
              <a:rPr lang="en-US" sz="2000" dirty="0">
                <a:latin typeface="Times New Roman" panose="02020603050405020304" pitchFamily="18" charset="0"/>
                <a:cs typeface="Times New Roman" panose="02020603050405020304" pitchFamily="18" charset="0"/>
              </a:rPr>
              <a:t>Proposed Work</a:t>
            </a:r>
          </a:p>
          <a:p>
            <a:pPr algn="just" eaLnBrk="1" hangingPunct="1"/>
            <a:r>
              <a:rPr lang="en-US" sz="2000" dirty="0">
                <a:latin typeface="Times New Roman" panose="02020603050405020304" pitchFamily="18" charset="0"/>
                <a:cs typeface="Times New Roman" panose="02020603050405020304" pitchFamily="18" charset="0"/>
              </a:rPr>
              <a:t>Algorithms</a:t>
            </a:r>
          </a:p>
          <a:p>
            <a:pPr algn="just" eaLnBrk="1" hangingPunct="1"/>
            <a:r>
              <a:rPr lang="en-US" sz="2000" dirty="0">
                <a:latin typeface="Times New Roman" panose="02020603050405020304" pitchFamily="18" charset="0"/>
                <a:cs typeface="Times New Roman" panose="02020603050405020304" pitchFamily="18" charset="0"/>
              </a:rPr>
              <a:t>Conclusion </a:t>
            </a:r>
          </a:p>
          <a:p>
            <a:pPr algn="just" eaLnBrk="1" hangingPunct="1"/>
            <a:r>
              <a:rPr lang="en-US" sz="2000" dirty="0">
                <a:latin typeface="Times New Roman" panose="02020603050405020304" pitchFamily="18" charset="0"/>
                <a:cs typeface="Times New Roman" panose="02020603050405020304" pitchFamily="18" charset="0"/>
              </a:rPr>
              <a:t>References</a:t>
            </a: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just">
              <a:defRPr/>
            </a:pPr>
            <a:fld id="{7DE0AED7-E7EF-46F3-B642-68A18E3B9067}" type="slidenum">
              <a:rPr lang="en-IN" smtClean="0"/>
              <a:t>2</a:t>
            </a:fld>
            <a:endParaRPr lang="en-IN" dirty="0"/>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773932" y="332656"/>
            <a:ext cx="11183270" cy="1009650"/>
          </a:xfrm>
        </p:spPr>
        <p:txBody>
          <a:bodyPr>
            <a:normAutofit/>
          </a:bodyPr>
          <a:lstStyle/>
          <a:p>
            <a:pPr eaLnBrk="1" hangingPunct="1"/>
            <a:r>
              <a:rPr lang="en-US" sz="40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917949" y="1340768"/>
            <a:ext cx="10081120" cy="5295900"/>
          </a:xfrm>
        </p:spPr>
        <p:txBody>
          <a:bodyPr>
            <a:normAutofit/>
          </a:bodyPr>
          <a:lstStyle/>
          <a:p>
            <a:pPr>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The Smart Mess Management System is a web-based application designed to streamline and modernize mess operations at MIT. It provides an intuitive platform for students and administrators to manage meal planning, attendance, feedback, and communication efficiently. </a:t>
            </a:r>
          </a:p>
          <a:p>
            <a:pPr>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Built with a modern tech stack—React and Tailwind CSS for the frontend, Django REST Framework for the backend, and SQLite for the database—the system features a responsive, multilingual interface with light/dark mode support, Font Awesome icons, and a user-friendly design. </a:t>
            </a:r>
          </a:p>
          <a:p>
            <a:pPr>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Key functionalities include real-time meal tracking, snack board management, rule display, staff directory, feedback submission, and a gallery for events. </a:t>
            </a:r>
          </a:p>
        </p:txBody>
      </p:sp>
      <p:sp>
        <p:nvSpPr>
          <p:cNvPr id="4" name="Slide Number Placeholder 3"/>
          <p:cNvSpPr>
            <a:spLocks noGrp="1"/>
          </p:cNvSpPr>
          <p:nvPr>
            <p:ph type="sldNum" sz="quarter" idx="12"/>
          </p:nvPr>
        </p:nvSpPr>
        <p:spPr/>
        <p:txBody>
          <a:bodyPr/>
          <a:lstStyle/>
          <a:p>
            <a:pPr>
              <a:defRPr/>
            </a:pPr>
            <a:fld id="{E324B8A5-6F70-49CB-8940-EDE4286C50AE}" type="slidenum">
              <a:rPr lang="en-IN"/>
              <a:t>3</a:t>
            </a:fld>
            <a:endParaRPr lang="en-IN" dirty="0"/>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29916" y="332656"/>
            <a:ext cx="9286940" cy="707886"/>
          </a:xfrm>
          <a:prstGeom prst="rect">
            <a:avLst/>
          </a:prstGeom>
          <a:noFill/>
        </p:spPr>
        <p:txBody>
          <a:bodyPr wrap="square" rtlCol="0">
            <a:spAutoFit/>
          </a:bodyPr>
          <a:lstStyle/>
          <a:p>
            <a:r>
              <a:rPr lang="en-US" sz="4000" dirty="0">
                <a:solidFill>
                  <a:schemeClr val="accent3">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fld id="{56E39993-3455-456D-B76B-54420194FCFA}" type="slidenum">
              <a:rPr lang="en-IN" smtClean="0"/>
              <a:t>4</a:t>
            </a:fld>
            <a:endParaRPr lang="en-IN"/>
          </a:p>
        </p:txBody>
      </p:sp>
      <p:graphicFrame>
        <p:nvGraphicFramePr>
          <p:cNvPr id="2" name="Table 1"/>
          <p:cNvGraphicFramePr>
            <a:graphicFrameLocks noGrp="1"/>
          </p:cNvGraphicFramePr>
          <p:nvPr>
            <p:extLst>
              <p:ext uri="{D42A27DB-BD31-4B8C-83A1-F6EECF244321}">
                <p14:modId xmlns:p14="http://schemas.microsoft.com/office/powerpoint/2010/main" val="3058225253"/>
              </p:ext>
            </p:extLst>
          </p:nvPr>
        </p:nvGraphicFramePr>
        <p:xfrm>
          <a:off x="1341884" y="1234440"/>
          <a:ext cx="10846941" cy="5608892"/>
        </p:xfrm>
        <a:graphic>
          <a:graphicData uri="http://schemas.openxmlformats.org/drawingml/2006/table">
            <a:tbl>
              <a:tblPr firstRow="1" firstCol="1" bandRow="1">
                <a:tableStyleId>{5C22544A-7EE6-4342-B048-85BDC9FD1C3A}</a:tableStyleId>
              </a:tblPr>
              <a:tblGrid>
                <a:gridCol w="1181972">
                  <a:extLst>
                    <a:ext uri="{9D8B030D-6E8A-4147-A177-3AD203B41FA5}">
                      <a16:colId xmlns:a16="http://schemas.microsoft.com/office/drawing/2014/main" val="20000"/>
                    </a:ext>
                  </a:extLst>
                </a:gridCol>
                <a:gridCol w="2446407">
                  <a:extLst>
                    <a:ext uri="{9D8B030D-6E8A-4147-A177-3AD203B41FA5}">
                      <a16:colId xmlns:a16="http://schemas.microsoft.com/office/drawing/2014/main" val="20001"/>
                    </a:ext>
                  </a:extLst>
                </a:gridCol>
                <a:gridCol w="2989290">
                  <a:extLst>
                    <a:ext uri="{9D8B030D-6E8A-4147-A177-3AD203B41FA5}">
                      <a16:colId xmlns:a16="http://schemas.microsoft.com/office/drawing/2014/main" val="20002"/>
                    </a:ext>
                  </a:extLst>
                </a:gridCol>
                <a:gridCol w="1958501">
                  <a:extLst>
                    <a:ext uri="{9D8B030D-6E8A-4147-A177-3AD203B41FA5}">
                      <a16:colId xmlns:a16="http://schemas.microsoft.com/office/drawing/2014/main" val="20003"/>
                    </a:ext>
                  </a:extLst>
                </a:gridCol>
                <a:gridCol w="2270771">
                  <a:extLst>
                    <a:ext uri="{9D8B030D-6E8A-4147-A177-3AD203B41FA5}">
                      <a16:colId xmlns:a16="http://schemas.microsoft.com/office/drawing/2014/main" val="20004"/>
                    </a:ext>
                  </a:extLst>
                </a:gridCol>
              </a:tblGrid>
              <a:tr h="727594">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Sr. No</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Paper Tile</a:t>
                      </a:r>
                    </a:p>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Paper concept</a:t>
                      </a:r>
                    </a:p>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Advantage</a:t>
                      </a:r>
                    </a:p>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Disadvantage</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423817">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1</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Pandey, S., Quraishi, R., Salian, A., &amp; Bhagat, S. (2024).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and evaluation of a comprehensive web-based canteen food ordering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10.22214/ijraset.2024.65046.</a:t>
                      </a:r>
                    </a:p>
                    <a:p>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latin typeface="Times New Roman" panose="02020603050405020304" pitchFamily="18" charset="0"/>
                          <a:cs typeface="Times New Roman" panose="02020603050405020304" pitchFamily="18" charset="0"/>
                        </a:rPr>
                        <a:t>The paper presents a web-based food ordering system for canteens that allows users to browse menus, place orders, and make digital payments.</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Reduces long queues and wait times in canteens.</a:t>
                      </a: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Requires constant internet access for users and staff.</a:t>
                      </a:r>
                    </a:p>
                    <a:p>
                      <a:r>
                        <a:rPr lang="en-US" sz="1600" b="0" dirty="0">
                          <a:latin typeface="Times New Roman" panose="02020603050405020304" pitchFamily="18" charset="0"/>
                          <a:cs typeface="Times New Roman" panose="02020603050405020304" pitchFamily="18" charset="0"/>
                        </a:rPr>
                        <a:t>System performance depends on server capacity.</a:t>
                      </a:r>
                    </a:p>
                  </a:txBody>
                  <a:tcPr marL="68580" marR="68580" marT="0" marB="0"/>
                </a:tc>
                <a:extLst>
                  <a:ext uri="{0D108BD9-81ED-4DB2-BD59-A6C34878D82A}">
                    <a16:rowId xmlns:a16="http://schemas.microsoft.com/office/drawing/2014/main" val="10001"/>
                  </a:ext>
                </a:extLst>
              </a:tr>
              <a:tr h="2437829">
                <a:tc>
                  <a:txBody>
                    <a:bodyPr/>
                    <a:lstStyle/>
                    <a:p>
                      <a:pPr marL="0" marR="0">
                        <a:lnSpc>
                          <a:spcPct val="115000"/>
                        </a:lnSpc>
                        <a:spcBef>
                          <a:spcPts val="0"/>
                        </a:spcBef>
                        <a:spcAft>
                          <a:spcPts val="1000"/>
                        </a:spcAft>
                      </a:pPr>
                      <a:r>
                        <a:rPr lang="en-US" sz="1800" dirty="0">
                          <a:effectLst/>
                          <a:latin typeface="Times New Roman" panose="02020603050405020304" pitchFamily="18" charset="0"/>
                          <a:ea typeface="Calibri" panose="020F0502020204030204"/>
                          <a:cs typeface="Times New Roman" panose="02020603050405020304" pitchFamily="18" charset="0"/>
                        </a:rPr>
                        <a:t>2</a:t>
                      </a:r>
                    </a:p>
                  </a:txBody>
                  <a:tcPr marL="68580" marR="68580" marT="0" marB="0"/>
                </a:tc>
                <a:tc>
                  <a:txBody>
                    <a:bodyPr/>
                    <a:lstStyle/>
                    <a:p>
                      <a:pPr marL="0" marR="0" lvl="0" indent="0" algn="l" defTabSz="914400" rtl="0" eaLnBrk="0" fontAlgn="base" latinLnBrk="0" hangingPunct="0">
                        <a:lnSpc>
                          <a:spcPct val="100000"/>
                        </a:lnSpc>
                        <a:spcBef>
                          <a:spcPct val="0"/>
                        </a:spcBef>
                        <a:spcAft>
                          <a:spcPct val="0"/>
                        </a:spcAft>
                        <a:buClrTx/>
                        <a:buSzTx/>
                        <a:buFont typeface="+mj-lt"/>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Justine, M. (2024).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canteen management system: A case study of Uganda Martyrs University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BSc Dissertation (UMU).</a:t>
                      </a:r>
                    </a:p>
                    <a:p>
                      <a:pPr marL="0" marR="0">
                        <a:lnSpc>
                          <a:spcPct val="115000"/>
                        </a:lnSpc>
                        <a:spcBef>
                          <a:spcPts val="0"/>
                        </a:spcBef>
                        <a:spcAft>
                          <a:spcPts val="1000"/>
                        </a:spcAft>
                      </a:pP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latin typeface="Times New Roman" panose="02020603050405020304" pitchFamily="18" charset="0"/>
                          <a:cs typeface="Times New Roman" panose="02020603050405020304" pitchFamily="18" charset="0"/>
                        </a:rPr>
                        <a:t>Focuses on improving communication between students and canteen operators.</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Simplifies management tasks and reduces manual errors.</a:t>
                      </a:r>
                    </a:p>
                    <a:p>
                      <a:r>
                        <a:rPr lang="en-US" sz="1600" b="0" dirty="0">
                          <a:latin typeface="Times New Roman" panose="02020603050405020304" pitchFamily="18" charset="0"/>
                          <a:cs typeface="Times New Roman" panose="02020603050405020304" pitchFamily="18" charset="0"/>
                        </a:rPr>
                        <a:t>Provides real-time menu updates and sales reporting.</a:t>
                      </a:r>
                    </a:p>
                  </a:txBody>
                  <a:tcPr marL="68580" marR="68580" marT="0" marB="0"/>
                </a:tc>
                <a:tc>
                  <a:txBody>
                    <a:bodyPr/>
                    <a:lstStyle/>
                    <a:p>
                      <a:pPr marL="0" marR="0">
                        <a:lnSpc>
                          <a:spcPct val="115000"/>
                        </a:lnSpc>
                        <a:spcBef>
                          <a:spcPts val="0"/>
                        </a:spcBef>
                        <a:spcAft>
                          <a:spcPts val="1000"/>
                        </a:spcAft>
                      </a:pPr>
                      <a:r>
                        <a:rPr lang="en-US" sz="1600" b="0" dirty="0">
                          <a:latin typeface="Times New Roman" panose="02020603050405020304" pitchFamily="18" charset="0"/>
                          <a:cs typeface="Times New Roman" panose="02020603050405020304" pitchFamily="18" charset="0"/>
                        </a:rPr>
                        <a:t>Limited scalability for larger institutions without further optimization.</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6E39993-3455-456D-B76B-54420194FCFA}" type="slidenum">
              <a:rPr lang="en-IN" smtClean="0"/>
              <a:t>5</a:t>
            </a:fld>
            <a:endParaRPr lang="en-IN"/>
          </a:p>
        </p:txBody>
      </p:sp>
      <p:graphicFrame>
        <p:nvGraphicFramePr>
          <p:cNvPr id="4" name="Table 3"/>
          <p:cNvGraphicFramePr>
            <a:graphicFrameLocks noGrp="1"/>
          </p:cNvGraphicFramePr>
          <p:nvPr>
            <p:extLst>
              <p:ext uri="{D42A27DB-BD31-4B8C-83A1-F6EECF244321}">
                <p14:modId xmlns:p14="http://schemas.microsoft.com/office/powerpoint/2010/main" val="3467045368"/>
              </p:ext>
            </p:extLst>
          </p:nvPr>
        </p:nvGraphicFramePr>
        <p:xfrm>
          <a:off x="1341884" y="1"/>
          <a:ext cx="10846940" cy="3356992"/>
        </p:xfrm>
        <a:graphic>
          <a:graphicData uri="http://schemas.openxmlformats.org/drawingml/2006/table">
            <a:tbl>
              <a:tblPr firstRow="1" firstCol="1" bandRow="1">
                <a:tableStyleId>{5C22544A-7EE6-4342-B048-85BDC9FD1C3A}</a:tableStyleId>
              </a:tblPr>
              <a:tblGrid>
                <a:gridCol w="532221">
                  <a:extLst>
                    <a:ext uri="{9D8B030D-6E8A-4147-A177-3AD203B41FA5}">
                      <a16:colId xmlns:a16="http://schemas.microsoft.com/office/drawing/2014/main" val="20000"/>
                    </a:ext>
                  </a:extLst>
                </a:gridCol>
                <a:gridCol w="1636320">
                  <a:extLst>
                    <a:ext uri="{9D8B030D-6E8A-4147-A177-3AD203B41FA5}">
                      <a16:colId xmlns:a16="http://schemas.microsoft.com/office/drawing/2014/main" val="20001"/>
                    </a:ext>
                  </a:extLst>
                </a:gridCol>
                <a:gridCol w="4248558">
                  <a:extLst>
                    <a:ext uri="{9D8B030D-6E8A-4147-A177-3AD203B41FA5}">
                      <a16:colId xmlns:a16="http://schemas.microsoft.com/office/drawing/2014/main" val="20002"/>
                    </a:ext>
                  </a:extLst>
                </a:gridCol>
                <a:gridCol w="2579997">
                  <a:extLst>
                    <a:ext uri="{9D8B030D-6E8A-4147-A177-3AD203B41FA5}">
                      <a16:colId xmlns:a16="http://schemas.microsoft.com/office/drawing/2014/main" val="20003"/>
                    </a:ext>
                  </a:extLst>
                </a:gridCol>
                <a:gridCol w="1849844">
                  <a:extLst>
                    <a:ext uri="{9D8B030D-6E8A-4147-A177-3AD203B41FA5}">
                      <a16:colId xmlns:a16="http://schemas.microsoft.com/office/drawing/2014/main" val="20004"/>
                    </a:ext>
                  </a:extLst>
                </a:gridCol>
              </a:tblGrid>
              <a:tr h="3356992">
                <a:tc>
                  <a:txBody>
                    <a:bodyPr/>
                    <a:lstStyle/>
                    <a:p>
                      <a:pPr marL="0" marR="0">
                        <a:lnSpc>
                          <a:spcPct val="115000"/>
                        </a:lnSpc>
                        <a:spcBef>
                          <a:spcPts val="0"/>
                        </a:spcBef>
                        <a:spcAft>
                          <a:spcPts val="1000"/>
                        </a:spcAft>
                      </a:pPr>
                      <a:r>
                        <a:rPr lang="en-US" sz="1600" dirty="0">
                          <a:effectLst/>
                          <a:latin typeface="Times New Roman" panose="02020603050405020304" pitchFamily="18" charset="0"/>
                          <a:ea typeface="Calibri" panose="020F0502020204030204"/>
                          <a:cs typeface="Times New Roman" panose="02020603050405020304" pitchFamily="18" charset="0"/>
                        </a:rPr>
                        <a:t>3</a:t>
                      </a:r>
                    </a:p>
                  </a:txBody>
                  <a:tcPr marL="40660" marR="4066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Goud, C. S., Reddy, M. H., Sultana, N. M., &amp;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Sreekala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S. (2020). </a:t>
                      </a:r>
                      <a:r>
                        <a:rPr kumimoji="0" lang="en-US" altLang="en-US"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QuickDine</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Efficient Canteen Management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Network Security and Data Mining</a:t>
                      </a:r>
                      <a:endParaRPr lang="en-US" sz="1600" b="0" dirty="0">
                        <a:solidFill>
                          <a:schemeClr val="tx1"/>
                        </a:solidFill>
                        <a:effectLst/>
                        <a:latin typeface="Times New Roman" panose="02020603050405020304" pitchFamily="18" charset="0"/>
                        <a:ea typeface="Calibri" panose="020F0502020204030204"/>
                        <a:cs typeface="Times New Roman" panose="02020603050405020304" pitchFamily="18" charset="0"/>
                      </a:endParaRPr>
                    </a:p>
                  </a:txBody>
                  <a:tcPr marL="40660" marR="4066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Integrates inventory management and order analysis modules for admins.</a:t>
                      </a:r>
                      <a:endParaRPr lang="en-US" sz="1600" b="0" dirty="0">
                        <a:solidFill>
                          <a:schemeClr val="tx1"/>
                        </a:solidFill>
                        <a:effectLst/>
                        <a:latin typeface="Times New Roman" panose="02020603050405020304" pitchFamily="18" charset="0"/>
                        <a:ea typeface="Calibri" panose="020F0502020204030204"/>
                        <a:cs typeface="Times New Roman" panose="02020603050405020304" pitchFamily="18" charset="0"/>
                      </a:endParaRPr>
                    </a:p>
                  </a:txBody>
                  <a:tcPr marL="40660" marR="40660" marT="0" marB="0"/>
                </a:tc>
                <a:tc>
                  <a:txBody>
                    <a:bodyPr/>
                    <a:lstStyle/>
                    <a:p>
                      <a:r>
                        <a:rPr lang="en-US" sz="1600" b="0" dirty="0">
                          <a:solidFill>
                            <a:schemeClr val="tx1"/>
                          </a:solidFill>
                          <a:latin typeface="Times New Roman" panose="02020603050405020304" pitchFamily="18" charset="0"/>
                          <a:cs typeface="Times New Roman" panose="02020603050405020304" pitchFamily="18" charset="0"/>
                        </a:rPr>
                        <a:t>Real-time order tracking improves service transparency.</a:t>
                      </a:r>
                    </a:p>
                    <a:p>
                      <a:r>
                        <a:rPr lang="en-US" sz="1600" b="0" dirty="0">
                          <a:solidFill>
                            <a:schemeClr val="tx1"/>
                          </a:solidFill>
                          <a:latin typeface="Times New Roman" panose="02020603050405020304" pitchFamily="18" charset="0"/>
                          <a:cs typeface="Times New Roman" panose="02020603050405020304" pitchFamily="18" charset="0"/>
                        </a:rPr>
                        <a:t>Inventory management prevents overstocking and understocking.</a:t>
                      </a:r>
                    </a:p>
                    <a:p>
                      <a:r>
                        <a:rPr lang="en-US" sz="1600" b="0" dirty="0">
                          <a:solidFill>
                            <a:schemeClr val="tx1"/>
                          </a:solidFill>
                          <a:latin typeface="Times New Roman" panose="02020603050405020304" pitchFamily="18" charset="0"/>
                          <a:cs typeface="Times New Roman" panose="02020603050405020304" pitchFamily="18" charset="0"/>
                        </a:rPr>
                        <a:t>Reduces labor dependency through automation.</a:t>
                      </a:r>
                    </a:p>
                  </a:txBody>
                  <a:tcPr marL="40660" marR="40660" marT="0" marB="0"/>
                </a:tc>
                <a:tc>
                  <a:txBody>
                    <a:bodyPr/>
                    <a:lstStyle/>
                    <a:p>
                      <a:r>
                        <a:rPr lang="en-US" sz="1600" b="0" dirty="0">
                          <a:solidFill>
                            <a:schemeClr val="tx1"/>
                          </a:solidFill>
                          <a:latin typeface="Times New Roman" panose="02020603050405020304" pitchFamily="18" charset="0"/>
                          <a:cs typeface="Times New Roman" panose="02020603050405020304" pitchFamily="18" charset="0"/>
                        </a:rPr>
                        <a:t>May require high maintenance for real-time services.</a:t>
                      </a:r>
                    </a:p>
                    <a:p>
                      <a:r>
                        <a:rPr lang="en-US" sz="1600" b="0" dirty="0">
                          <a:solidFill>
                            <a:schemeClr val="tx1"/>
                          </a:solidFill>
                          <a:latin typeface="Times New Roman" panose="02020603050405020304" pitchFamily="18" charset="0"/>
                          <a:cs typeface="Times New Roman" panose="02020603050405020304" pitchFamily="18" charset="0"/>
                        </a:rPr>
                        <a:t>May not support integration with other institutional systems</a:t>
                      </a:r>
                    </a:p>
                  </a:txBody>
                  <a:tcPr marL="40660" marR="4066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188640"/>
            <a:ext cx="10575364" cy="1143000"/>
          </a:xfrm>
        </p:spPr>
        <p:txBody>
          <a:bodyPr>
            <a:normAutofit/>
          </a:bodyPr>
          <a:lstStyle/>
          <a:p>
            <a:r>
              <a:rPr lang="en-US" sz="4000" dirty="0">
                <a:latin typeface="Times New Roman" panose="02020603050405020304" pitchFamily="18" charset="0"/>
                <a:cs typeface="Times New Roman" panose="02020603050405020304" pitchFamily="18" charset="0"/>
              </a:rPr>
              <a:t>Motivation</a:t>
            </a:r>
          </a:p>
        </p:txBody>
      </p:sp>
      <p:sp>
        <p:nvSpPr>
          <p:cNvPr id="3" name="Content Placeholder 2"/>
          <p:cNvSpPr>
            <a:spLocks noGrp="1"/>
          </p:cNvSpPr>
          <p:nvPr>
            <p:ph idx="1"/>
          </p:nvPr>
        </p:nvSpPr>
        <p:spPr>
          <a:xfrm>
            <a:off x="1845940" y="1268760"/>
            <a:ext cx="10241590" cy="5053034"/>
          </a:xfrm>
        </p:spPr>
        <p:txBody>
          <a:bodyPr>
            <a:normAutofit lnSpcReduction="10000"/>
          </a:bodyPr>
          <a:lstStyle/>
          <a:p>
            <a:pPr marL="82550" indent="0">
              <a:buNone/>
            </a:pPr>
            <a:r>
              <a:rPr lang="en-US" sz="2300" dirty="0">
                <a:latin typeface="Times New Roman" panose="02020603050405020304" pitchFamily="18" charset="0"/>
                <a:cs typeface="Times New Roman" panose="02020603050405020304" pitchFamily="18" charset="0"/>
              </a:rPr>
              <a:t>In many hostels and college campuses, mess operations are still managed manually through registers, paper-based attendance, and outdated billing methods. This leads to common issues such as food wastage, inaccurate billing, lack of proper records, and minimal student involvement or feedback. As students ourselves, we have personally experienced the inconvenience and inefficiencies of such systems. These challenges inspired us to build a Mess Management System that can simplify daily mess operations using technology.</a:t>
            </a:r>
          </a:p>
          <a:p>
            <a:pPr marL="82550" indent="0">
              <a:buNone/>
            </a:pP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Our motivation is to create a platform that not only reduces the workload of mess administrators but also gives students more control and clarity over their mess-related activities. By integrating features like digital attendance, live menus, automated billing, and feedback systems, we aim to enhance the overall dining experience, improve food planning, and bring transparency to the system. This project also serves as an opportunity to apply </a:t>
            </a:r>
            <a:r>
              <a:rPr lang="en-US" sz="2300" dirty="0" err="1">
                <a:latin typeface="Times New Roman" panose="02020603050405020304" pitchFamily="18" charset="0"/>
                <a:cs typeface="Times New Roman" panose="02020603050405020304" pitchFamily="18" charset="0"/>
              </a:rPr>
              <a:t>fullstack</a:t>
            </a:r>
            <a:r>
              <a:rPr lang="en-US" sz="2300" dirty="0">
                <a:latin typeface="Times New Roman" panose="02020603050405020304" pitchFamily="18" charset="0"/>
                <a:cs typeface="Times New Roman" panose="02020603050405020304" pitchFamily="18" charset="0"/>
              </a:rPr>
              <a:t> development skills to solve a real-world problem faced by thousands of students daily.</a:t>
            </a:r>
          </a:p>
        </p:txBody>
      </p:sp>
      <p:sp>
        <p:nvSpPr>
          <p:cNvPr id="4" name="Slide Number Placeholder 3"/>
          <p:cNvSpPr>
            <a:spLocks noGrp="1"/>
          </p:cNvSpPr>
          <p:nvPr>
            <p:ph type="sldNum" sz="quarter" idx="12"/>
          </p:nvPr>
        </p:nvSpPr>
        <p:spPr/>
        <p:txBody>
          <a:bodyPr/>
          <a:lstStyle/>
          <a:p>
            <a:fld id="{56E39993-3455-456D-B76B-54420194FCFA}"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548680"/>
            <a:ext cx="10566598" cy="922114"/>
          </a:xfrm>
        </p:spPr>
        <p:txBody>
          <a:bodyPr>
            <a:normAutofit fontScale="90000"/>
          </a:bodyPr>
          <a:lstStyle/>
          <a:p>
            <a:r>
              <a:rPr lang="en-US" sz="4000" dirty="0">
                <a:latin typeface="Times New Roman" panose="02020603050405020304" pitchFamily="18" charset="0"/>
                <a:cs typeface="Times New Roman" panose="02020603050405020304" pitchFamily="18" charset="0"/>
              </a:rPr>
              <a:t>Objectives</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t>7</a:t>
            </a:fld>
            <a:endParaRPr lang="en-IN"/>
          </a:p>
        </p:txBody>
      </p:sp>
      <p:sp>
        <p:nvSpPr>
          <p:cNvPr id="6" name="Rectangle 2">
            <a:extLst>
              <a:ext uri="{FF2B5EF4-FFF2-40B4-BE49-F238E27FC236}">
                <a16:creationId xmlns:a16="http://schemas.microsoft.com/office/drawing/2014/main" id="{2297F867-A4A4-4B9B-BAAE-BDB4B87A814C}"/>
              </a:ext>
            </a:extLst>
          </p:cNvPr>
          <p:cNvSpPr>
            <a:spLocks noGrp="1" noChangeArrowheads="1"/>
          </p:cNvSpPr>
          <p:nvPr>
            <p:ph idx="1"/>
          </p:nvPr>
        </p:nvSpPr>
        <p:spPr bwMode="auto">
          <a:xfrm>
            <a:off x="1776404" y="980728"/>
            <a:ext cx="10394849"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Streamline mess operations at MIT by automating meal tracking and attendance.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user experience with a responsive, multilingual interface supporting English, Hindi, and Marathi.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food wastage through real-time menu planning and feedback analysis.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communication between students and staff via centralized features like rules and notes board.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scalability and reliability using Django REST Framework and React with a modern UI.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89756" y="260648"/>
            <a:ext cx="12188825" cy="1143000"/>
          </a:xfrm>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3FDEDA14-350E-4ACF-B1DE-FBCB42851718}" type="slidenum">
              <a:rPr lang="en-IN" smtClean="0">
                <a:solidFill>
                  <a:schemeClr val="tx1"/>
                </a:solidFill>
              </a:rPr>
              <a:t>8</a:t>
            </a:fld>
            <a:endParaRPr lang="en-IN" dirty="0">
              <a:solidFill>
                <a:schemeClr val="tx1"/>
              </a:solidFill>
            </a:endParaRPr>
          </a:p>
        </p:txBody>
      </p:sp>
      <p:sp>
        <p:nvSpPr>
          <p:cNvPr id="8" name="Rectangle 5">
            <a:extLst>
              <a:ext uri="{FF2B5EF4-FFF2-40B4-BE49-F238E27FC236}">
                <a16:creationId xmlns:a16="http://schemas.microsoft.com/office/drawing/2014/main" id="{3A162AC8-C895-4304-9A25-736361FBCBC7}"/>
              </a:ext>
            </a:extLst>
          </p:cNvPr>
          <p:cNvSpPr>
            <a:spLocks noGrp="1" noChangeArrowheads="1"/>
          </p:cNvSpPr>
          <p:nvPr>
            <p:ph idx="1"/>
          </p:nvPr>
        </p:nvSpPr>
        <p:spPr bwMode="auto">
          <a:xfrm>
            <a:off x="1773932" y="1484784"/>
            <a:ext cx="10153129"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current mess system at MIT is manual and inefficient, leading</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errors in meal tracking, attendance, and feedback. Students lack real-time access to menus and updates, causing confusion. Poor planning results in food wastage, and communication between </a:t>
            </a:r>
            <a:r>
              <a:rPr lang="en-US" altLang="en-US" sz="2300" dirty="0">
                <a:latin typeface="Times New Roman" panose="02020603050405020304" pitchFamily="18" charset="0"/>
                <a:cs typeface="Times New Roman" panose="02020603050405020304" pitchFamily="18" charset="0"/>
              </a:rPr>
              <a:t>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tudents and staff is scattered. There's a clear need for a centralized, automated, and user-friendly solution to improve efficiency and user experience.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9916" y="188640"/>
            <a:ext cx="9994837" cy="1143000"/>
          </a:xfrm>
        </p:spPr>
        <p:txBody>
          <a:bodyPr/>
          <a:lstStyle/>
          <a:p>
            <a:r>
              <a:rPr lang="en-US" sz="4000" dirty="0">
                <a:latin typeface="Times New Roman" panose="02020603050405020304" pitchFamily="18" charset="0"/>
                <a:cs typeface="Times New Roman" panose="02020603050405020304" pitchFamily="18" charset="0"/>
              </a:rPr>
              <a:t>Proposed System</a:t>
            </a:r>
          </a:p>
        </p:txBody>
      </p:sp>
      <p:sp>
        <p:nvSpPr>
          <p:cNvPr id="4" name="Slide Number Placeholder 3"/>
          <p:cNvSpPr>
            <a:spLocks noGrp="1"/>
          </p:cNvSpPr>
          <p:nvPr>
            <p:ph type="sldNum" sz="quarter" idx="12"/>
          </p:nvPr>
        </p:nvSpPr>
        <p:spPr/>
        <p:txBody>
          <a:bodyPr/>
          <a:lstStyle/>
          <a:p>
            <a:fld id="{56E39993-3455-456D-B76B-54420194FCFA}" type="slidenum">
              <a:rPr lang="en-IN" smtClean="0"/>
              <a:t>9</a:t>
            </a:fld>
            <a:endParaRPr lang="en-IN"/>
          </a:p>
        </p:txBody>
      </p:sp>
      <p:sp>
        <p:nvSpPr>
          <p:cNvPr id="6" name="Rectangle 2">
            <a:extLst>
              <a:ext uri="{FF2B5EF4-FFF2-40B4-BE49-F238E27FC236}">
                <a16:creationId xmlns:a16="http://schemas.microsoft.com/office/drawing/2014/main" id="{EA9E4622-951A-4A6F-8C82-C698093A5B15}"/>
              </a:ext>
            </a:extLst>
          </p:cNvPr>
          <p:cNvSpPr>
            <a:spLocks noGrp="1" noChangeArrowheads="1"/>
          </p:cNvSpPr>
          <p:nvPr>
            <p:ph idx="1"/>
          </p:nvPr>
        </p:nvSpPr>
        <p:spPr bwMode="auto">
          <a:xfrm>
            <a:off x="1845940" y="1196752"/>
            <a:ext cx="9145016"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Smart Mess Management System is a modern, web-based solution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to improve and automate the mess operations at MIT, replacing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manual methods. </a:t>
            </a: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uses a React + Tailwind CSS frontend for a responsive and multilingual user experience (English, Hindi, Marathi), along with a Django REST Framework backend and SQLite database for efficient data management.</a:t>
            </a: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essential features such as:</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meal tracking </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submission with comment support </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Menu and snack board management</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Mess rules display</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Staff directory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511" y="188640"/>
            <a:ext cx="10494590" cy="1143000"/>
          </a:xfrm>
        </p:spPr>
        <p:txBody>
          <a:bodyPr/>
          <a:lstStyle/>
          <a:p>
            <a:r>
              <a:rPr lang="en-US" dirty="0">
                <a:latin typeface="Times New Roman" panose="02020603050405020304" pitchFamily="18" charset="0"/>
                <a:cs typeface="Times New Roman" panose="02020603050405020304" pitchFamily="18" charset="0"/>
              </a:rPr>
              <a:t>System</a:t>
            </a:r>
            <a:r>
              <a:rPr lang="en-US" dirty="0"/>
              <a:t> </a:t>
            </a:r>
            <a:r>
              <a:rPr lang="en-US" dirty="0">
                <a:latin typeface="Times New Roman" panose="02020603050405020304" pitchFamily="18" charset="0"/>
                <a:cs typeface="Times New Roman" panose="02020603050405020304" pitchFamily="18" charset="0"/>
              </a:rPr>
              <a:t>Architecture</a:t>
            </a:r>
          </a:p>
        </p:txBody>
      </p:sp>
      <p:sp>
        <p:nvSpPr>
          <p:cNvPr id="4" name="Slide Number Placeholder 3"/>
          <p:cNvSpPr>
            <a:spLocks noGrp="1"/>
          </p:cNvSpPr>
          <p:nvPr>
            <p:ph type="sldNum" sz="quarter" idx="12"/>
          </p:nvPr>
        </p:nvSpPr>
        <p:spPr/>
        <p:txBody>
          <a:bodyPr/>
          <a:lstStyle/>
          <a:p>
            <a:fld id="{56E39993-3455-456D-B76B-54420194FCFA}" type="slidenum">
              <a:rPr lang="en-IN" smtClean="0"/>
              <a:t>10</a:t>
            </a:fld>
            <a:endParaRPr lang="en-IN"/>
          </a:p>
        </p:txBody>
      </p:sp>
      <p:pic>
        <p:nvPicPr>
          <p:cNvPr id="4098" name="Picture 2">
            <a:extLst>
              <a:ext uri="{FF2B5EF4-FFF2-40B4-BE49-F238E27FC236}">
                <a16:creationId xmlns:a16="http://schemas.microsoft.com/office/drawing/2014/main" id="{7778DD7D-FBC1-4D3C-BE0D-4C37AF581BE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66020" y="1447800"/>
            <a:ext cx="8352928" cy="4800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781B614-FDE5-4D94-A28F-3363E997A92D}"/>
              </a:ext>
            </a:extLst>
          </p:cNvPr>
          <p:cNvSpPr/>
          <p:nvPr/>
        </p:nvSpPr>
        <p:spPr>
          <a:xfrm>
            <a:off x="6454452" y="5733256"/>
            <a:ext cx="1728192" cy="288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t>Snack Board</a:t>
            </a:r>
            <a:endParaRPr lang="en-I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6E39993-3455-456D-B76B-54420194FCFA}" type="slidenum">
              <a:rPr lang="en-IN" smtClean="0"/>
              <a:t>11</a:t>
            </a:fld>
            <a:endParaRPr lang="en-IN"/>
          </a:p>
        </p:txBody>
      </p:sp>
      <p:sp>
        <p:nvSpPr>
          <p:cNvPr id="9" name="Text Box 8"/>
          <p:cNvSpPr txBox="1"/>
          <p:nvPr/>
        </p:nvSpPr>
        <p:spPr>
          <a:xfrm>
            <a:off x="1773932" y="332656"/>
            <a:ext cx="9001000" cy="706755"/>
          </a:xfrm>
          <a:prstGeom prst="rect">
            <a:avLst/>
          </a:prstGeom>
          <a:noFill/>
        </p:spPr>
        <p:txBody>
          <a:bodyPr wrap="square" rtlCol="0">
            <a:spAutoFit/>
          </a:bodyPr>
          <a:lstStyle/>
          <a:p>
            <a:r>
              <a:rPr lang="en-US" sz="4000"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Basic flow of system </a:t>
            </a:r>
          </a:p>
        </p:txBody>
      </p:sp>
      <p:pic>
        <p:nvPicPr>
          <p:cNvPr id="6146" name="Picture 2" descr="Generated image">
            <a:extLst>
              <a:ext uri="{FF2B5EF4-FFF2-40B4-BE49-F238E27FC236}">
                <a16:creationId xmlns:a16="http://schemas.microsoft.com/office/drawing/2014/main" id="{C7686F6E-A955-4553-A9F8-BC25E613D8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14092" y="1124744"/>
            <a:ext cx="5544616" cy="5400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932" y="260648"/>
            <a:ext cx="10566598" cy="1143000"/>
          </a:xfrm>
        </p:spPr>
        <p:txBody>
          <a:bodyPr/>
          <a:lstStyle/>
          <a:p>
            <a:r>
              <a:rPr lang="en-US" dirty="0">
                <a:latin typeface="Times New Roman" panose="02020603050405020304" pitchFamily="18" charset="0"/>
                <a:cs typeface="Times New Roman" panose="02020603050405020304" pitchFamily="18" charset="0"/>
              </a:rPr>
              <a:t>Algorithms</a:t>
            </a:r>
          </a:p>
        </p:txBody>
      </p:sp>
      <p:sp>
        <p:nvSpPr>
          <p:cNvPr id="3" name="Content Placeholder 2"/>
          <p:cNvSpPr>
            <a:spLocks noGrp="1"/>
          </p:cNvSpPr>
          <p:nvPr>
            <p:ph sz="half" idx="1"/>
          </p:nvPr>
        </p:nvSpPr>
        <p:spPr>
          <a:xfrm>
            <a:off x="2133972" y="1412776"/>
            <a:ext cx="9876155" cy="4877435"/>
          </a:xfrm>
        </p:spPr>
        <p:txBody>
          <a:bodyPr>
            <a:noAutofit/>
          </a:bodyPr>
          <a:lstStyle/>
          <a:p>
            <a:pPr marL="82550" indent="0">
              <a:buNone/>
            </a:pPr>
            <a:r>
              <a:rPr lang="en-US" sz="2300" dirty="0">
                <a:latin typeface="Times New Roman" panose="02020603050405020304" pitchFamily="18" charset="0"/>
                <a:cs typeface="Times New Roman" panose="02020603050405020304" pitchFamily="18" charset="0"/>
              </a:rPr>
              <a:t>1. Start</a:t>
            </a:r>
          </a:p>
          <a:p>
            <a:pPr marL="82550" indent="0">
              <a:buNone/>
            </a:pPr>
            <a:r>
              <a:rPr lang="en-US" sz="2300" dirty="0">
                <a:latin typeface="Times New Roman" panose="02020603050405020304" pitchFamily="18" charset="0"/>
                <a:cs typeface="Times New Roman" panose="02020603050405020304" pitchFamily="18" charset="0"/>
              </a:rPr>
              <a:t>2. User logs in with credentials</a:t>
            </a:r>
          </a:p>
          <a:p>
            <a:pPr marL="82550" indent="0">
              <a:buNone/>
            </a:pPr>
            <a:r>
              <a:rPr lang="en-US" sz="2300" dirty="0">
                <a:latin typeface="Times New Roman" panose="02020603050405020304" pitchFamily="18" charset="0"/>
                <a:cs typeface="Times New Roman" panose="02020603050405020304" pitchFamily="18" charset="0"/>
              </a:rPr>
              <a:t>3. Check user role:</a:t>
            </a:r>
          </a:p>
          <a:p>
            <a:pPr marL="82550" indent="0">
              <a:buNone/>
            </a:pPr>
            <a:r>
              <a:rPr lang="en-US" sz="2300" dirty="0">
                <a:latin typeface="Times New Roman" panose="02020603050405020304" pitchFamily="18" charset="0"/>
                <a:cs typeface="Times New Roman" panose="02020603050405020304" pitchFamily="18" charset="0"/>
              </a:rPr>
              <a:t>   a. If Admin:</a:t>
            </a:r>
          </a:p>
          <a:p>
            <a:pPr marL="82550" indent="0">
              <a:buNone/>
            </a:pPr>
            <a:r>
              <a:rPr lang="en-US" sz="2300" dirty="0">
                <a:latin typeface="Times New Roman" panose="02020603050405020304" pitchFamily="18" charset="0"/>
                <a:cs typeface="Times New Roman" panose="02020603050405020304" pitchFamily="18" charset="0"/>
              </a:rPr>
              <a:t>      - Redirect to Admin Dashboard</a:t>
            </a:r>
          </a:p>
          <a:p>
            <a:pPr marL="82550" indent="0">
              <a:buNone/>
            </a:pPr>
            <a:r>
              <a:rPr lang="en-US" sz="2300" dirty="0">
                <a:latin typeface="Times New Roman" panose="02020603050405020304" pitchFamily="18" charset="0"/>
                <a:cs typeface="Times New Roman" panose="02020603050405020304" pitchFamily="18" charset="0"/>
              </a:rPr>
              <a:t>      - Admin can:</a:t>
            </a:r>
          </a:p>
          <a:p>
            <a:pPr marL="82550" indent="0">
              <a:buNone/>
            </a:pP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Add/Update/Delete Meals</a:t>
            </a:r>
          </a:p>
          <a:p>
            <a:pPr marL="82550" indent="0">
              <a:buNone/>
            </a:pPr>
            <a:r>
              <a:rPr lang="en-US" sz="2300" dirty="0">
                <a:latin typeface="Times New Roman" panose="02020603050405020304" pitchFamily="18" charset="0"/>
                <a:cs typeface="Times New Roman" panose="02020603050405020304" pitchFamily="18" charset="0"/>
              </a:rPr>
              <a:t>         ii. Manage Menu &amp; Snack Board</a:t>
            </a:r>
          </a:p>
          <a:p>
            <a:pPr marL="82550" indent="0">
              <a:buNone/>
            </a:pPr>
            <a:r>
              <a:rPr lang="en-US" sz="2300" dirty="0">
                <a:latin typeface="Times New Roman" panose="02020603050405020304" pitchFamily="18" charset="0"/>
                <a:cs typeface="Times New Roman" panose="02020603050405020304" pitchFamily="18" charset="0"/>
              </a:rPr>
              <a:t>         iii. Upload Gallery Images</a:t>
            </a:r>
          </a:p>
          <a:p>
            <a:pPr marL="82550" indent="0">
              <a:buNone/>
            </a:pPr>
            <a:r>
              <a:rPr lang="en-US" sz="2300" dirty="0">
                <a:latin typeface="Times New Roman" panose="02020603050405020304" pitchFamily="18" charset="0"/>
                <a:cs typeface="Times New Roman" panose="02020603050405020304" pitchFamily="18" charset="0"/>
              </a:rPr>
              <a:t>         iv. View and manage Feedback</a:t>
            </a:r>
          </a:p>
          <a:p>
            <a:pPr marL="82550" indent="0" algn="just">
              <a:buNone/>
            </a:pPr>
            <a:endParaRPr lang="en-US" sz="1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95EB51-8F7E-45F9-B319-6077261ABF62}"/>
              </a:ext>
            </a:extLst>
          </p:cNvPr>
          <p:cNvSpPr>
            <a:spLocks noGrp="1"/>
          </p:cNvSpPr>
          <p:nvPr>
            <p:ph sz="half" idx="1"/>
          </p:nvPr>
        </p:nvSpPr>
        <p:spPr>
          <a:xfrm>
            <a:off x="1888605" y="188640"/>
            <a:ext cx="10297144" cy="6264696"/>
          </a:xfrm>
        </p:spPr>
        <p:txBody>
          <a:bodyPr>
            <a:normAutofit fontScale="32500" lnSpcReduction="20000"/>
          </a:bodyPr>
          <a:lstStyle/>
          <a:p>
            <a:pPr marL="82550" indent="0">
              <a:lnSpc>
                <a:spcPct val="120000"/>
              </a:lnSpc>
              <a:buNone/>
            </a:pPr>
            <a:r>
              <a:rPr lang="en-US" sz="7100" dirty="0">
                <a:latin typeface="Times New Roman" panose="02020603050405020304" pitchFamily="18" charset="0"/>
                <a:cs typeface="Times New Roman" panose="02020603050405020304" pitchFamily="18" charset="0"/>
              </a:rPr>
              <a:t> v. Edit Rules and Staff Info</a:t>
            </a:r>
          </a:p>
          <a:p>
            <a:pPr marL="82550" indent="0">
              <a:lnSpc>
                <a:spcPct val="120000"/>
              </a:lnSpc>
              <a:buNone/>
            </a:pPr>
            <a:r>
              <a:rPr lang="en-US" sz="7100" dirty="0">
                <a:latin typeface="Times New Roman" panose="02020603050405020304" pitchFamily="18" charset="0"/>
                <a:cs typeface="Times New Roman" panose="02020603050405020304" pitchFamily="18" charset="0"/>
              </a:rPr>
              <a:t>      - All changes update the backend via APIs</a:t>
            </a:r>
          </a:p>
          <a:p>
            <a:pPr marL="82550" indent="0">
              <a:lnSpc>
                <a:spcPct val="120000"/>
              </a:lnSpc>
              <a:buNone/>
            </a:pPr>
            <a:r>
              <a:rPr lang="en-US" sz="7100" dirty="0">
                <a:latin typeface="Times New Roman" panose="02020603050405020304" pitchFamily="18" charset="0"/>
                <a:cs typeface="Times New Roman" panose="02020603050405020304" pitchFamily="18" charset="0"/>
              </a:rPr>
              <a:t>   b. If Student:</a:t>
            </a:r>
          </a:p>
          <a:p>
            <a:pPr marL="82550" indent="0">
              <a:lnSpc>
                <a:spcPct val="120000"/>
              </a:lnSpc>
              <a:buNone/>
            </a:pPr>
            <a:r>
              <a:rPr lang="en-US" sz="7100" dirty="0">
                <a:latin typeface="Times New Roman" panose="02020603050405020304" pitchFamily="18" charset="0"/>
                <a:cs typeface="Times New Roman" panose="02020603050405020304" pitchFamily="18" charset="0"/>
              </a:rPr>
              <a:t>      - Redirect to Student Dashboard</a:t>
            </a:r>
          </a:p>
          <a:p>
            <a:pPr marL="82550" indent="0">
              <a:lnSpc>
                <a:spcPct val="120000"/>
              </a:lnSpc>
              <a:buNone/>
            </a:pPr>
            <a:r>
              <a:rPr lang="en-US" sz="7100" dirty="0">
                <a:latin typeface="Times New Roman" panose="02020603050405020304" pitchFamily="18" charset="0"/>
                <a:cs typeface="Times New Roman" panose="02020603050405020304" pitchFamily="18" charset="0"/>
              </a:rPr>
              <a:t>      - Student can:</a:t>
            </a:r>
          </a:p>
          <a:p>
            <a:pPr marL="82550" indent="0">
              <a:lnSpc>
                <a:spcPct val="120000"/>
              </a:lnSpc>
              <a:buNone/>
            </a:pPr>
            <a:r>
              <a:rPr lang="en-US" sz="7100" dirty="0">
                <a:latin typeface="Times New Roman" panose="02020603050405020304" pitchFamily="18" charset="0"/>
                <a:cs typeface="Times New Roman" panose="02020603050405020304" pitchFamily="18" charset="0"/>
              </a:rPr>
              <a:t>         </a:t>
            </a:r>
            <a:r>
              <a:rPr lang="en-US" sz="7100" dirty="0" err="1">
                <a:latin typeface="Times New Roman" panose="02020603050405020304" pitchFamily="18" charset="0"/>
                <a:cs typeface="Times New Roman" panose="02020603050405020304" pitchFamily="18" charset="0"/>
              </a:rPr>
              <a:t>i</a:t>
            </a:r>
            <a:r>
              <a:rPr lang="en-US" sz="7100" dirty="0">
                <a:latin typeface="Times New Roman" panose="02020603050405020304" pitchFamily="18" charset="0"/>
                <a:cs typeface="Times New Roman" panose="02020603050405020304" pitchFamily="18" charset="0"/>
              </a:rPr>
              <a:t>. View Menu, Rules, Snacks, Gallery</a:t>
            </a:r>
          </a:p>
          <a:p>
            <a:pPr marL="82550" indent="0">
              <a:lnSpc>
                <a:spcPct val="120000"/>
              </a:lnSpc>
              <a:buNone/>
            </a:pPr>
            <a:r>
              <a:rPr lang="en-US" sz="7100" dirty="0">
                <a:latin typeface="Times New Roman" panose="02020603050405020304" pitchFamily="18" charset="0"/>
                <a:cs typeface="Times New Roman" panose="02020603050405020304" pitchFamily="18" charset="0"/>
              </a:rPr>
              <a:t>         ii. Mark Attendance</a:t>
            </a:r>
          </a:p>
          <a:p>
            <a:pPr marL="82550" indent="0">
              <a:lnSpc>
                <a:spcPct val="120000"/>
              </a:lnSpc>
              <a:buNone/>
            </a:pPr>
            <a:r>
              <a:rPr lang="en-US" sz="7100" dirty="0">
                <a:latin typeface="Times New Roman" panose="02020603050405020304" pitchFamily="18" charset="0"/>
                <a:cs typeface="Times New Roman" panose="02020603050405020304" pitchFamily="18" charset="0"/>
              </a:rPr>
              <a:t>         iii. Submit Feedback</a:t>
            </a:r>
          </a:p>
          <a:p>
            <a:pPr marL="82550" indent="0">
              <a:lnSpc>
                <a:spcPct val="120000"/>
              </a:lnSpc>
              <a:buNone/>
            </a:pPr>
            <a:r>
              <a:rPr lang="en-US" sz="7100" dirty="0">
                <a:latin typeface="Times New Roman" panose="02020603050405020304" pitchFamily="18" charset="0"/>
                <a:cs typeface="Times New Roman" panose="02020603050405020304" pitchFamily="18" charset="0"/>
              </a:rPr>
              <a:t>4. API requests from frontend communicate with Django backend</a:t>
            </a:r>
          </a:p>
          <a:p>
            <a:pPr marL="82550" indent="0">
              <a:lnSpc>
                <a:spcPct val="120000"/>
              </a:lnSpc>
              <a:buNone/>
            </a:pPr>
            <a:r>
              <a:rPr lang="en-US" sz="7100" dirty="0">
                <a:latin typeface="Times New Roman" panose="02020603050405020304" pitchFamily="18" charset="0"/>
                <a:cs typeface="Times New Roman" panose="02020603050405020304" pitchFamily="18" charset="0"/>
              </a:rPr>
              <a:t>5. Backend processes data and updates SQLite database</a:t>
            </a:r>
          </a:p>
          <a:p>
            <a:pPr marL="82550" indent="0">
              <a:lnSpc>
                <a:spcPct val="120000"/>
              </a:lnSpc>
              <a:buNone/>
            </a:pPr>
            <a:r>
              <a:rPr lang="en-US" sz="7100" dirty="0">
                <a:latin typeface="Times New Roman" panose="02020603050405020304" pitchFamily="18" charset="0"/>
                <a:cs typeface="Times New Roman" panose="02020603050405020304" pitchFamily="18" charset="0"/>
              </a:rPr>
              <a:t>6. Feedback or success message is returned to the user</a:t>
            </a:r>
          </a:p>
          <a:p>
            <a:pPr marL="82550" indent="0">
              <a:lnSpc>
                <a:spcPct val="120000"/>
              </a:lnSpc>
              <a:buNone/>
            </a:pPr>
            <a:r>
              <a:rPr lang="en-US" sz="7100" dirty="0">
                <a:latin typeface="Times New Roman" panose="02020603050405020304" pitchFamily="18" charset="0"/>
                <a:cs typeface="Times New Roman" panose="02020603050405020304" pitchFamily="18" charset="0"/>
              </a:rPr>
              <a:t>7. User logs out</a:t>
            </a:r>
          </a:p>
          <a:p>
            <a:pPr marL="82550" indent="0">
              <a:lnSpc>
                <a:spcPct val="120000"/>
              </a:lnSpc>
              <a:buNone/>
            </a:pPr>
            <a:r>
              <a:rPr lang="en-US" sz="7100" dirty="0">
                <a:latin typeface="Times New Roman" panose="02020603050405020304" pitchFamily="18" charset="0"/>
                <a:cs typeface="Times New Roman" panose="02020603050405020304" pitchFamily="18" charset="0"/>
              </a:rPr>
              <a:t>8. End</a:t>
            </a:r>
          </a:p>
          <a:p>
            <a:pPr marL="82550" indent="0">
              <a:lnSpc>
                <a:spcPct val="150000"/>
              </a:lnSpc>
              <a:buNone/>
            </a:pPr>
            <a:r>
              <a:rPr lang="en-US" sz="1050" dirty="0">
                <a:latin typeface="Times New Roman" panose="02020603050405020304" pitchFamily="18" charset="0"/>
                <a:cs typeface="Times New Roman" panose="02020603050405020304" pitchFamily="18" charset="0"/>
              </a:rPr>
              <a:t>        23</a:t>
            </a:r>
            <a:endParaRPr lang="en-IN" dirty="0"/>
          </a:p>
        </p:txBody>
      </p:sp>
      <p:sp>
        <p:nvSpPr>
          <p:cNvPr id="5" name="Slide Number Placeholder 4">
            <a:extLst>
              <a:ext uri="{FF2B5EF4-FFF2-40B4-BE49-F238E27FC236}">
                <a16:creationId xmlns:a16="http://schemas.microsoft.com/office/drawing/2014/main" id="{E203292A-0109-4222-8CB6-010D9B1222B8}"/>
              </a:ext>
            </a:extLst>
          </p:cNvPr>
          <p:cNvSpPr>
            <a:spLocks noGrp="1"/>
          </p:cNvSpPr>
          <p:nvPr>
            <p:ph type="sldNum" sz="quarter" idx="12"/>
          </p:nvPr>
        </p:nvSpPr>
        <p:spPr/>
        <p:txBody>
          <a:bodyPr/>
          <a:lstStyle/>
          <a:p>
            <a:fld id="{56E39993-3455-456D-B76B-54420194FCFA}" type="slidenum">
              <a:rPr lang="en-IN" smtClean="0"/>
              <a:t>13</a:t>
            </a:fld>
            <a:endParaRPr lang="en-IN"/>
          </a:p>
        </p:txBody>
      </p:sp>
    </p:spTree>
    <p:extLst>
      <p:ext uri="{BB962C8B-B14F-4D97-AF65-F5344CB8AC3E}">
        <p14:creationId xmlns:p14="http://schemas.microsoft.com/office/powerpoint/2010/main" val="2955639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188640"/>
            <a:ext cx="10372923" cy="1143000"/>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845940" y="1196752"/>
            <a:ext cx="9994900" cy="5187315"/>
          </a:xfrm>
        </p:spPr>
        <p:txBody>
          <a:bodyPr>
            <a:normAutofit/>
          </a:bodyPr>
          <a:lstStyle/>
          <a:p>
            <a:pPr marL="82550" indent="0">
              <a:buNone/>
            </a:pPr>
            <a:r>
              <a:rPr lang="en-US" sz="2300" dirty="0">
                <a:latin typeface="Times New Roman" panose="02020603050405020304" pitchFamily="18" charset="0"/>
                <a:cs typeface="Times New Roman" panose="02020603050405020304" pitchFamily="18" charset="0"/>
              </a:rPr>
              <a:t>The Smart Mess Management System offers a modern, efficient, and user-friendly solution to the challenges faced by traditional mess operations at MIT.</a:t>
            </a:r>
          </a:p>
          <a:p>
            <a:pPr marL="82550" indent="0">
              <a:buNone/>
            </a:pPr>
            <a:r>
              <a:rPr lang="en-US" sz="2300" dirty="0">
                <a:latin typeface="Times New Roman" panose="02020603050405020304" pitchFamily="18" charset="0"/>
                <a:cs typeface="Times New Roman" panose="02020603050405020304" pitchFamily="18" charset="0"/>
              </a:rPr>
              <a:t>By leveraging a robust tech stack—React and Tailwind CSS on the frontend, Django REST Framework with SQLite on the backend—it automates key processes such as meal tracking, feedback collection, menu planning, and staff coordination.</a:t>
            </a:r>
          </a:p>
          <a:p>
            <a:pPr marL="82550" indent="0">
              <a:buNone/>
            </a:pPr>
            <a:r>
              <a:rPr lang="en-US" sz="2300" dirty="0">
                <a:latin typeface="Times New Roman" panose="02020603050405020304" pitchFamily="18" charset="0"/>
                <a:cs typeface="Times New Roman" panose="02020603050405020304" pitchFamily="18" charset="0"/>
              </a:rPr>
              <a:t>The system significantly improves:</a:t>
            </a:r>
          </a:p>
          <a:p>
            <a:pPr marL="82550" indent="0">
              <a:buNone/>
            </a:pPr>
            <a:r>
              <a:rPr lang="en-US" sz="2300" dirty="0">
                <a:latin typeface="Times New Roman" panose="02020603050405020304" pitchFamily="18" charset="0"/>
                <a:cs typeface="Times New Roman" panose="02020603050405020304" pitchFamily="18" charset="0"/>
              </a:rPr>
              <a:t>Efficiency through automation of manual tasks</a:t>
            </a:r>
          </a:p>
          <a:p>
            <a:pPr marL="82550" indent="0">
              <a:buNone/>
            </a:pPr>
            <a:r>
              <a:rPr lang="en-US" sz="2300" dirty="0">
                <a:latin typeface="Times New Roman" panose="02020603050405020304" pitchFamily="18" charset="0"/>
                <a:cs typeface="Times New Roman" panose="02020603050405020304" pitchFamily="18" charset="0"/>
              </a:rPr>
              <a:t>User experience with a clean, responsive, multilingual interface</a:t>
            </a:r>
          </a:p>
          <a:p>
            <a:pPr marL="82550" indent="0">
              <a:buNone/>
            </a:pPr>
            <a:r>
              <a:rPr lang="en-US" sz="2300" dirty="0">
                <a:latin typeface="Times New Roman" panose="02020603050405020304" pitchFamily="18" charset="0"/>
                <a:cs typeface="Times New Roman" panose="02020603050405020304" pitchFamily="18" charset="0"/>
              </a:rPr>
              <a:t>Communication via centralized rule display, staff directory, and real-time updates</a:t>
            </a:r>
          </a:p>
          <a:p>
            <a:pPr marL="82550" indent="0">
              <a:buNone/>
            </a:pPr>
            <a:r>
              <a:rPr lang="en-US" sz="2300" dirty="0">
                <a:latin typeface="Times New Roman" panose="02020603050405020304" pitchFamily="18" charset="0"/>
                <a:cs typeface="Times New Roman" panose="02020603050405020304" pitchFamily="18" charset="0"/>
              </a:rPr>
              <a:t>Sustainability by reducing food wastage through data-driven planning</a:t>
            </a:r>
          </a:p>
          <a:p>
            <a:pPr marL="82550" indent="0" algn="just">
              <a:lnSpc>
                <a:spcPct val="150000"/>
              </a:lnSpc>
              <a:buNone/>
            </a:pPr>
            <a:endParaRPr lang="en-US" sz="23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latin typeface="Times New Roman" panose="02020603050405020304" pitchFamily="18" charset="0"/>
                <a:cs typeface="Times New Roman" panose="02020603050405020304" pitchFamily="18" charset="0"/>
              </a:rPr>
              <a:t>14</a:t>
            </a:fld>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780" y="332656"/>
            <a:ext cx="11376237" cy="868362"/>
          </a:xfrm>
        </p:spPr>
        <p:txBody>
          <a:bodyPr/>
          <a:lstStyle/>
          <a:p>
            <a:r>
              <a:rPr lang="en-US" dirty="0">
                <a:latin typeface="Times New Roman" panose="02020603050405020304" pitchFamily="18" charset="0"/>
                <a:cs typeface="Times New Roman" panose="02020603050405020304" pitchFamily="18" charset="0"/>
              </a:rPr>
              <a:t>         References</a:t>
            </a:r>
          </a:p>
        </p:txBody>
      </p:sp>
      <p:sp>
        <p:nvSpPr>
          <p:cNvPr id="5" name="Slide Number Placeholder 4"/>
          <p:cNvSpPr>
            <a:spLocks noGrp="1"/>
          </p:cNvSpPr>
          <p:nvPr>
            <p:ph type="sldNum" sz="quarter" idx="12"/>
          </p:nvPr>
        </p:nvSpPr>
        <p:spPr/>
        <p:txBody>
          <a:bodyPr/>
          <a:lstStyle/>
          <a:p>
            <a:fld id="{56E39993-3455-456D-B76B-54420194FCFA}" type="slidenum">
              <a:rPr lang="en-IN" smtClean="0"/>
              <a:t>15</a:t>
            </a:fld>
            <a:endParaRPr lang="en-IN"/>
          </a:p>
        </p:txBody>
      </p:sp>
      <p:sp>
        <p:nvSpPr>
          <p:cNvPr id="3" name="Rectangle 1">
            <a:extLst>
              <a:ext uri="{FF2B5EF4-FFF2-40B4-BE49-F238E27FC236}">
                <a16:creationId xmlns:a16="http://schemas.microsoft.com/office/drawing/2014/main" id="{ED444FF8-56E6-424B-9E68-81AC15CEA006}"/>
              </a:ext>
            </a:extLst>
          </p:cNvPr>
          <p:cNvSpPr>
            <a:spLocks noGrp="1" noChangeArrowheads="1"/>
          </p:cNvSpPr>
          <p:nvPr>
            <p:ph idx="1"/>
          </p:nvPr>
        </p:nvSpPr>
        <p:spPr bwMode="auto">
          <a:xfrm>
            <a:off x="1485900" y="1268760"/>
            <a:ext cx="10426302"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Pandey, S., Quraishi, R., Salian, A., &amp; Bhagat, S. (2024).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and evaluation of a comprehensive web-based canteen food ordering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10.22214/ijraset.2024.65046.</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Justine, M. (2024).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canteen management system: A case study of Uganda Martyrs University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BSc Dissertation (UMU).</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Bawankar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Bochare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Harane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 &amp;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Rajgure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K. (2023).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review on smart canteen management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10.22214/ijraset.2023.56698.</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Goud, C. S., Reddy, M. H., Sultana, N. M., &amp;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Sreekala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S. (2020). </a:t>
            </a:r>
            <a:r>
              <a:rPr kumimoji="0" lang="en-US" altLang="en-US" sz="2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QuickDine</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Efficient Canteen Management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Network Security and Data Mining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815201" y="764705"/>
            <a:ext cx="10969943" cy="4967287"/>
          </a:xfrm>
        </p:spPr>
        <p:txBody>
          <a:bodyPr/>
          <a:lstStyle/>
          <a:p>
            <a:pPr eaLnBrk="1" hangingPunct="1"/>
            <a:endParaRPr lang="en-US" dirty="0"/>
          </a:p>
          <a:p>
            <a:pPr eaLnBrk="1" hangingPunct="1"/>
            <a:endParaRPr lang="en-US" dirty="0"/>
          </a:p>
          <a:p>
            <a:pPr eaLnBrk="1" hangingPunct="1"/>
            <a:endParaRPr lang="en-US" dirty="0"/>
          </a:p>
          <a:p>
            <a:pPr eaLnBrk="1" hangingPunct="1">
              <a:buFont typeface="Wingdings 2" panose="05020102010507070707" pitchFamily="18" charset="2"/>
              <a:buNone/>
            </a:pPr>
            <a:r>
              <a:rPr lang="en-US" sz="7200" dirty="0"/>
              <a:t>     THANK YOU!</a:t>
            </a:r>
          </a:p>
        </p:txBody>
      </p:sp>
      <p:sp>
        <p:nvSpPr>
          <p:cNvPr id="4" name="Slide Number Placeholder 3"/>
          <p:cNvSpPr>
            <a:spLocks noGrp="1"/>
          </p:cNvSpPr>
          <p:nvPr>
            <p:ph type="sldNum" sz="quarter" idx="12"/>
          </p:nvPr>
        </p:nvSpPr>
        <p:spPr/>
        <p:txBody>
          <a:bodyPr/>
          <a:lstStyle/>
          <a:p>
            <a:pPr>
              <a:defRPr/>
            </a:pPr>
            <a:fld id="{BDF0D920-D9E6-4F91-B57E-12547DAB44CA}" type="slidenum">
              <a:rPr lang="en-IN"/>
              <a:t>16</a:t>
            </a:fld>
            <a:endParaRPr lang="en-IN"/>
          </a:p>
        </p:txBody>
      </p:sp>
    </p:spTree>
  </p:cSld>
  <p:clrMapOvr>
    <a:masterClrMapping/>
  </p:clrMapOvr>
  <p:transition>
    <p:cover dir="l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740</TotalTime>
  <Words>1342</Words>
  <Application>Microsoft Office PowerPoint</Application>
  <PresentationFormat>Custom</PresentationFormat>
  <Paragraphs>156</Paragraphs>
  <Slides>16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Gill Sans MT</vt:lpstr>
      <vt:lpstr>Times New Roman</vt:lpstr>
      <vt:lpstr>Verdana</vt:lpstr>
      <vt:lpstr>Wingdings</vt:lpstr>
      <vt:lpstr>Wingdings 2</vt:lpstr>
      <vt:lpstr>Solstice</vt:lpstr>
      <vt:lpstr>MAEER’s MIT COLLEGE OF RAILWAY ENGINEERING AND RESEARCH BARSHI-413401</vt:lpstr>
      <vt:lpstr>Contents</vt:lpstr>
      <vt:lpstr>Introduction</vt:lpstr>
      <vt:lpstr>PowerPoint Presentation</vt:lpstr>
      <vt:lpstr>PowerPoint Presentation</vt:lpstr>
      <vt:lpstr>Motivation</vt:lpstr>
      <vt:lpstr>Objectives </vt:lpstr>
      <vt:lpstr>           Problem Statement</vt:lpstr>
      <vt:lpstr>Proposed System</vt:lpstr>
      <vt:lpstr>System Architecture</vt:lpstr>
      <vt:lpstr>PowerPoint Presentation</vt:lpstr>
      <vt:lpstr>Algorithms</vt:lpstr>
      <vt:lpstr>PowerPoint Presentation</vt:lpstr>
      <vt:lpstr>Conclusion</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siddhi kulkarni</cp:lastModifiedBy>
  <cp:revision>869</cp:revision>
  <dcterms:created xsi:type="dcterms:W3CDTF">2013-10-18T03:09:00Z</dcterms:created>
  <dcterms:modified xsi:type="dcterms:W3CDTF">2025-08-01T07:30:24Z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1033-11.2.0.8641</vt:lpwstr>
  </property>
</Properties>
</file>